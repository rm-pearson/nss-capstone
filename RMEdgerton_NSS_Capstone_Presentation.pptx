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3" r:id="rId1"/>
  </p:sldMasterIdLst>
  <p:notesMasterIdLst>
    <p:notesMasterId r:id="rId13"/>
  </p:notesMasterIdLst>
  <p:sldIdLst>
    <p:sldId id="256" r:id="rId2"/>
    <p:sldId id="257" r:id="rId3"/>
    <p:sldId id="259" r:id="rId4"/>
    <p:sldId id="261" r:id="rId5"/>
    <p:sldId id="266" r:id="rId6"/>
    <p:sldId id="267" r:id="rId7"/>
    <p:sldId id="263" r:id="rId8"/>
    <p:sldId id="268" r:id="rId9"/>
    <p:sldId id="269" r:id="rId10"/>
    <p:sldId id="270" r:id="rId11"/>
    <p:sldId id="260"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9602" autoAdjust="0"/>
  </p:normalViewPr>
  <p:slideViewPr>
    <p:cSldViewPr snapToGrid="0">
      <p:cViewPr varScale="1">
        <p:scale>
          <a:sx n="124" d="100"/>
          <a:sy n="124" d="100"/>
        </p:scale>
        <p:origin x="170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734F6C5-14D3-4C8A-B4DA-80FCB6E09599}" type="datetimeFigureOut">
              <a:rPr lang="en-US" smtClean="0"/>
              <a:t>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2EF81E-7198-4166-9295-810162322651}" type="slidenum">
              <a:rPr lang="en-US" smtClean="0"/>
              <a:t>‹#›</a:t>
            </a:fld>
            <a:endParaRPr lang="en-US"/>
          </a:p>
        </p:txBody>
      </p:sp>
    </p:spTree>
    <p:extLst>
      <p:ext uri="{BB962C8B-B14F-4D97-AF65-F5344CB8AC3E}">
        <p14:creationId xmlns:p14="http://schemas.microsoft.com/office/powerpoint/2010/main" val="17042251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02EF81E-7198-4166-9295-810162322651}" type="slidenum">
              <a:rPr lang="en-US" smtClean="0"/>
              <a:t>2</a:t>
            </a:fld>
            <a:endParaRPr lang="en-US"/>
          </a:p>
        </p:txBody>
      </p:sp>
    </p:spTree>
    <p:extLst>
      <p:ext uri="{BB962C8B-B14F-4D97-AF65-F5344CB8AC3E}">
        <p14:creationId xmlns:p14="http://schemas.microsoft.com/office/powerpoint/2010/main" val="14751106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02EF81E-7198-4166-9295-810162322651}" type="slidenum">
              <a:rPr lang="en-US" smtClean="0"/>
              <a:t>3</a:t>
            </a:fld>
            <a:endParaRPr lang="en-US"/>
          </a:p>
        </p:txBody>
      </p:sp>
    </p:spTree>
    <p:extLst>
      <p:ext uri="{BB962C8B-B14F-4D97-AF65-F5344CB8AC3E}">
        <p14:creationId xmlns:p14="http://schemas.microsoft.com/office/powerpoint/2010/main" val="15809558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I looked at which titles were the most popular (by number of checkouts) over the entire timespan, and including both physical books (and audiobooks on CD) as well as e-book and digital audiobook lending.</a:t>
            </a:r>
          </a:p>
          <a:p>
            <a:endParaRPr lang="en-US" dirty="0"/>
          </a:p>
          <a:p>
            <a:r>
              <a:rPr lang="en-US" dirty="0"/>
              <a:t>The Harry Potter series, perhaps unsurprisingly, have been top performers for the Seattle Public Library, and all seven of them are in this top 10 list.</a:t>
            </a:r>
          </a:p>
          <a:p>
            <a:endParaRPr lang="en-US" dirty="0"/>
          </a:p>
          <a:p>
            <a:r>
              <a:rPr lang="en-US" dirty="0"/>
              <a:t>Many of the Harry Potter books, as well as A Wrinkle in Time (which placed 9</a:t>
            </a:r>
            <a:r>
              <a:rPr lang="en-US" baseline="30000" dirty="0"/>
              <a:t>th</a:t>
            </a:r>
            <a:r>
              <a:rPr lang="en-US" dirty="0"/>
              <a:t>) may benefit from being available during the entire time period covered by the data, while a book like Wonder (in 8</a:t>
            </a:r>
            <a:r>
              <a:rPr lang="en-US" baseline="30000" dirty="0"/>
              <a:t>th</a:t>
            </a:r>
            <a:r>
              <a:rPr lang="en-US" dirty="0"/>
              <a:t>), was only published in 2012 and therefore has almost half as many years to build up checkouts in.</a:t>
            </a:r>
          </a:p>
          <a:p>
            <a:endParaRPr lang="en-US" dirty="0"/>
          </a:p>
          <a:p>
            <a:r>
              <a:rPr lang="en-US" dirty="0"/>
              <a:t>Also, this data is not corrected for the number of copies available at the library – and a book having more copies is going to mean it can be checked out more often.</a:t>
            </a:r>
          </a:p>
          <a:p>
            <a:endParaRPr lang="en-US" dirty="0"/>
          </a:p>
          <a:p>
            <a:r>
              <a:rPr lang="en-US" dirty="0"/>
              <a:t>One title I’d like to draw attention to is Mo Willems’ Are You Ready To Play Outside?, which is the tenth most-popular book overall, but the only picture book on the list, and the only book to make the top 10 with only physical checkouts.</a:t>
            </a:r>
          </a:p>
          <a:p>
            <a:r>
              <a:rPr lang="en-US" dirty="0"/>
              <a:t>In fact, Mo Willems’ pictures books are 5 of the top 10 books with the most physical checkouts.</a:t>
            </a:r>
          </a:p>
          <a:p>
            <a:endParaRPr lang="en-US" i="0" dirty="0"/>
          </a:p>
          <a:p>
            <a:r>
              <a:rPr lang="en-US" i="0" dirty="0"/>
              <a:t>The first two Harry Potter books are the only titles to appear in the top 10 by both physical and digital checkouts.</a:t>
            </a:r>
          </a:p>
        </p:txBody>
      </p:sp>
      <p:sp>
        <p:nvSpPr>
          <p:cNvPr id="4" name="Slide Number Placeholder 3"/>
          <p:cNvSpPr>
            <a:spLocks noGrp="1"/>
          </p:cNvSpPr>
          <p:nvPr>
            <p:ph type="sldNum" sz="quarter" idx="5"/>
          </p:nvPr>
        </p:nvSpPr>
        <p:spPr/>
        <p:txBody>
          <a:bodyPr/>
          <a:lstStyle/>
          <a:p>
            <a:fld id="{602EF81E-7198-4166-9295-810162322651}" type="slidenum">
              <a:rPr lang="en-US" smtClean="0"/>
              <a:t>4</a:t>
            </a:fld>
            <a:endParaRPr lang="en-US"/>
          </a:p>
        </p:txBody>
      </p:sp>
    </p:spTree>
    <p:extLst>
      <p:ext uri="{BB962C8B-B14F-4D97-AF65-F5344CB8AC3E}">
        <p14:creationId xmlns:p14="http://schemas.microsoft.com/office/powerpoint/2010/main" val="6513353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02EF81E-7198-4166-9295-810162322651}" type="slidenum">
              <a:rPr lang="en-US" smtClean="0"/>
              <a:t>5</a:t>
            </a:fld>
            <a:endParaRPr lang="en-US"/>
          </a:p>
        </p:txBody>
      </p:sp>
    </p:spTree>
    <p:extLst>
      <p:ext uri="{BB962C8B-B14F-4D97-AF65-F5344CB8AC3E}">
        <p14:creationId xmlns:p14="http://schemas.microsoft.com/office/powerpoint/2010/main" val="26584315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Spike correlations:</a:t>
            </a:r>
          </a:p>
          <a:p>
            <a:r>
              <a:rPr lang="en-US" dirty="0"/>
              <a:t>Harry Potter – SPL re-acquires digital versions of the HP books; digital borrowing rises during COVID-19 lockdowns</a:t>
            </a:r>
          </a:p>
          <a:p>
            <a:r>
              <a:rPr lang="en-US" dirty="0"/>
              <a:t>Invisible – Unsure</a:t>
            </a:r>
          </a:p>
          <a:p>
            <a:r>
              <a:rPr lang="en-US" dirty="0"/>
              <a:t>Turtles All The Way Down – initial book release</a:t>
            </a:r>
          </a:p>
          <a:p>
            <a:r>
              <a:rPr lang="en-US" dirty="0"/>
              <a:t>The Red Pencil – unsure</a:t>
            </a:r>
          </a:p>
          <a:p>
            <a:r>
              <a:rPr lang="en-US" dirty="0"/>
              <a:t>Wonder – film release in 2017</a:t>
            </a:r>
          </a:p>
          <a:p>
            <a:r>
              <a:rPr lang="en-US" dirty="0"/>
              <a:t>The Hate U Give – unsure (spike is pre-movie release but well after book release, maybe correlates with awards?)</a:t>
            </a:r>
          </a:p>
          <a:p>
            <a:r>
              <a:rPr lang="en-US" dirty="0"/>
              <a:t>A Wrinkle in Time – 2018 film adaptation</a:t>
            </a:r>
          </a:p>
          <a:p>
            <a:r>
              <a:rPr lang="en-US" dirty="0" err="1"/>
              <a:t>Mexikid</a:t>
            </a:r>
            <a:r>
              <a:rPr lang="en-US" dirty="0"/>
              <a:t> – Newberry Honor winner</a:t>
            </a:r>
          </a:p>
          <a:p>
            <a:r>
              <a:rPr lang="en-US" dirty="0"/>
              <a:t>I Can Make This Promise – unsure</a:t>
            </a:r>
          </a:p>
          <a:p>
            <a:r>
              <a:rPr lang="en-US" dirty="0"/>
              <a:t>Hot Mess – initial release</a:t>
            </a:r>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602EF81E-7198-4166-9295-810162322651}" type="slidenum">
              <a:rPr lang="en-US" smtClean="0"/>
              <a:t>6</a:t>
            </a:fld>
            <a:endParaRPr lang="en-US"/>
          </a:p>
        </p:txBody>
      </p:sp>
    </p:spTree>
    <p:extLst>
      <p:ext uri="{BB962C8B-B14F-4D97-AF65-F5344CB8AC3E}">
        <p14:creationId xmlns:p14="http://schemas.microsoft.com/office/powerpoint/2010/main" val="30293464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341B595-366B-43E2-A22E-EA6A78C03F06}" type="datetimeFigureOut">
              <a:rPr lang="en-US" smtClean="0"/>
              <a:t>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BA915EE-10CB-4CF1-8569-6154455DA573}" type="slidenum">
              <a:rPr lang="en-US" smtClean="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410920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41B595-366B-43E2-A22E-EA6A78C03F06}" type="datetimeFigureOut">
              <a:rPr lang="en-US" smtClean="0"/>
              <a:t>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BA915EE-10CB-4CF1-8569-6154455DA573}" type="slidenum">
              <a:rPr lang="en-US" smtClean="0"/>
              <a:t>‹#›</a:t>
            </a:fld>
            <a:endParaRPr lang="en-US" dirty="0"/>
          </a:p>
        </p:txBody>
      </p:sp>
    </p:spTree>
    <p:extLst>
      <p:ext uri="{BB962C8B-B14F-4D97-AF65-F5344CB8AC3E}">
        <p14:creationId xmlns:p14="http://schemas.microsoft.com/office/powerpoint/2010/main" val="28354330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341B595-366B-43E2-A22E-EA6A78C03F06}" type="datetimeFigureOut">
              <a:rPr lang="en-US" smtClean="0"/>
              <a:t>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BA915EE-10CB-4CF1-8569-6154455DA573}" type="slidenum">
              <a:rPr lang="en-US" smtClean="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093877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341B595-366B-43E2-A22E-EA6A78C03F06}" type="datetimeFigureOut">
              <a:rPr lang="en-US" smtClean="0"/>
              <a:t>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BA915EE-10CB-4CF1-8569-6154455DA573}" type="slidenum">
              <a:rPr lang="en-US" smtClean="0"/>
              <a:t>‹#›</a:t>
            </a:fld>
            <a:endParaRPr lang="en-US" dirty="0"/>
          </a:p>
        </p:txBody>
      </p:sp>
    </p:spTree>
    <p:extLst>
      <p:ext uri="{BB962C8B-B14F-4D97-AF65-F5344CB8AC3E}">
        <p14:creationId xmlns:p14="http://schemas.microsoft.com/office/powerpoint/2010/main" val="4082778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341B595-366B-43E2-A22E-EA6A78C03F06}" type="datetimeFigureOut">
              <a:rPr lang="en-US" smtClean="0"/>
              <a:t>1/5/2026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BA915EE-10CB-4CF1-8569-6154455DA573}" type="slidenum">
              <a:rPr lang="en-US" smtClean="0"/>
              <a:t>‹#›</a:t>
            </a:fld>
            <a:endParaRPr lang="en-US" dirty="0"/>
          </a:p>
        </p:txBody>
      </p:sp>
    </p:spTree>
    <p:extLst>
      <p:ext uri="{BB962C8B-B14F-4D97-AF65-F5344CB8AC3E}">
        <p14:creationId xmlns:p14="http://schemas.microsoft.com/office/powerpoint/2010/main" val="21103843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341B595-366B-43E2-A22E-EA6A78C03F06}" type="datetimeFigureOut">
              <a:rPr lang="en-US" smtClean="0"/>
              <a:t>1/5/2026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BA915EE-10CB-4CF1-8569-6154455DA573}" type="slidenum">
              <a:rPr lang="en-US" smtClean="0"/>
              <a:t>‹#›</a:t>
            </a:fld>
            <a:endParaRPr lang="en-US" dirty="0"/>
          </a:p>
        </p:txBody>
      </p:sp>
    </p:spTree>
    <p:extLst>
      <p:ext uri="{BB962C8B-B14F-4D97-AF65-F5344CB8AC3E}">
        <p14:creationId xmlns:p14="http://schemas.microsoft.com/office/powerpoint/2010/main" val="10327259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341B595-366B-43E2-A22E-EA6A78C03F06}" type="datetimeFigureOut">
              <a:rPr lang="en-US" smtClean="0"/>
              <a:t>1/5/2026</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4BA915EE-10CB-4CF1-8569-6154455DA573}" type="slidenum">
              <a:rPr lang="en-US" smtClean="0"/>
              <a:t>‹#›</a:t>
            </a:fld>
            <a:endParaRPr lang="en-US" dirty="0"/>
          </a:p>
        </p:txBody>
      </p:sp>
    </p:spTree>
    <p:extLst>
      <p:ext uri="{BB962C8B-B14F-4D97-AF65-F5344CB8AC3E}">
        <p14:creationId xmlns:p14="http://schemas.microsoft.com/office/powerpoint/2010/main" val="26425245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D341B595-366B-43E2-A22E-EA6A78C03F06}" type="datetimeFigureOut">
              <a:rPr lang="en-US" smtClean="0"/>
              <a:t>1/5/2026</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BA915EE-10CB-4CF1-8569-6154455DA573}" type="slidenum">
              <a:rPr lang="en-US" smtClean="0"/>
              <a:t>‹#›</a:t>
            </a:fld>
            <a:endParaRPr lang="en-US" dirty="0"/>
          </a:p>
        </p:txBody>
      </p:sp>
    </p:spTree>
    <p:extLst>
      <p:ext uri="{BB962C8B-B14F-4D97-AF65-F5344CB8AC3E}">
        <p14:creationId xmlns:p14="http://schemas.microsoft.com/office/powerpoint/2010/main" val="40708411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341B595-366B-43E2-A22E-EA6A78C03F06}" type="datetimeFigureOut">
              <a:rPr lang="en-US" smtClean="0"/>
              <a:t>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BA915EE-10CB-4CF1-8569-6154455DA573}" type="slidenum">
              <a:rPr lang="en-US" smtClean="0"/>
              <a:t>‹#›</a:t>
            </a:fld>
            <a:endParaRPr lang="en-US" dirty="0"/>
          </a:p>
        </p:txBody>
      </p:sp>
    </p:spTree>
    <p:extLst>
      <p:ext uri="{BB962C8B-B14F-4D97-AF65-F5344CB8AC3E}">
        <p14:creationId xmlns:p14="http://schemas.microsoft.com/office/powerpoint/2010/main" val="850302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41B595-366B-43E2-A22E-EA6A78C03F06}" type="datetimeFigureOut">
              <a:rPr lang="en-US" smtClean="0"/>
              <a:t>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BA915EE-10CB-4CF1-8569-6154455DA573}" type="slidenum">
              <a:rPr lang="en-US" smtClean="0"/>
              <a:t>‹#›</a:t>
            </a:fld>
            <a:endParaRPr lang="en-US" dirty="0"/>
          </a:p>
        </p:txBody>
      </p:sp>
    </p:spTree>
    <p:extLst>
      <p:ext uri="{BB962C8B-B14F-4D97-AF65-F5344CB8AC3E}">
        <p14:creationId xmlns:p14="http://schemas.microsoft.com/office/powerpoint/2010/main" val="37565026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41B595-366B-43E2-A22E-EA6A78C03F06}" type="datetimeFigureOut">
              <a:rPr lang="en-US" smtClean="0"/>
              <a:t>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BA915EE-10CB-4CF1-8569-6154455DA573}" type="slidenum">
              <a:rPr lang="en-US" smtClean="0"/>
              <a:t>‹#›</a:t>
            </a:fld>
            <a:endParaRPr lang="en-US" dirty="0"/>
          </a:p>
        </p:txBody>
      </p:sp>
    </p:spTree>
    <p:extLst>
      <p:ext uri="{BB962C8B-B14F-4D97-AF65-F5344CB8AC3E}">
        <p14:creationId xmlns:p14="http://schemas.microsoft.com/office/powerpoint/2010/main" val="19906887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D341B595-366B-43E2-A22E-EA6A78C03F06}" type="datetimeFigureOut">
              <a:rPr lang="en-US" smtClean="0"/>
              <a:t>1/5/2026</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BA915EE-10CB-4CF1-8569-6154455DA573}" type="slidenum">
              <a:rPr lang="en-US" smtClean="0"/>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93315351"/>
      </p:ext>
    </p:extLst>
  </p:cSld>
  <p:clrMap bg1="lt1" tx1="dk1" bg2="lt2" tx2="dk2" accent1="accent1" accent2="accent2" accent3="accent3" accent4="accent4" accent5="accent5" accent6="accent6" hlink="hlink" folHlink="folHlink"/>
  <p:sldLayoutIdLst>
    <p:sldLayoutId id="2147483754" r:id="rId1"/>
    <p:sldLayoutId id="2147483755" r:id="rId2"/>
    <p:sldLayoutId id="2147483756" r:id="rId3"/>
    <p:sldLayoutId id="2147483757" r:id="rId4"/>
    <p:sldLayoutId id="2147483758" r:id="rId5"/>
    <p:sldLayoutId id="2147483759" r:id="rId6"/>
    <p:sldLayoutId id="2147483760" r:id="rId7"/>
    <p:sldLayoutId id="2147483761" r:id="rId8"/>
    <p:sldLayoutId id="2147483762" r:id="rId9"/>
    <p:sldLayoutId id="2147483763" r:id="rId10"/>
    <p:sldLayoutId id="2147483764"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6000"/>
                <a:shade val="99000"/>
                <a:satMod val="140000"/>
              </a:schemeClr>
            </a:gs>
            <a:gs pos="65000">
              <a:schemeClr val="bg1">
                <a:tint val="100000"/>
                <a:shade val="80000"/>
                <a:satMod val="130000"/>
              </a:schemeClr>
            </a:gs>
            <a:gs pos="100000">
              <a:schemeClr val="bg1">
                <a:tint val="100000"/>
                <a:shade val="48000"/>
                <a:satMod val="120000"/>
              </a:schemeClr>
            </a:gs>
          </a:gsLst>
          <a:lin ang="16200000" scaled="0"/>
        </a:gradFill>
        <a:effectLst/>
      </p:bgPr>
    </p:bg>
    <p:spTree>
      <p:nvGrpSpPr>
        <p:cNvPr id="1" name=""/>
        <p:cNvGrpSpPr/>
        <p:nvPr/>
      </p:nvGrpSpPr>
      <p:grpSpPr>
        <a:xfrm>
          <a:off x="0" y="0"/>
          <a:ext cx="0" cy="0"/>
          <a:chOff x="0" y="0"/>
          <a:chExt cx="0" cy="0"/>
        </a:xfrm>
      </p:grpSpPr>
      <p:pic>
        <p:nvPicPr>
          <p:cNvPr id="4" name="Picture 3" descr="Abstract blurred public library with bookshelves">
            <a:extLst>
              <a:ext uri="{FF2B5EF4-FFF2-40B4-BE49-F238E27FC236}">
                <a16:creationId xmlns:a16="http://schemas.microsoft.com/office/drawing/2014/main" id="{1960692F-B15A-04C6-70FD-35359B47E67D}"/>
              </a:ext>
            </a:extLst>
          </p:cNvPr>
          <p:cNvPicPr>
            <a:picLocks noChangeAspect="1"/>
          </p:cNvPicPr>
          <p:nvPr/>
        </p:nvPicPr>
        <p:blipFill>
          <a:blip r:embed="rId2">
            <a:alphaModFix amt="35000"/>
          </a:blip>
          <a:srcRect t="1059" b="14671"/>
          <a:stretch>
            <a:fillRect/>
          </a:stretch>
        </p:blipFill>
        <p:spPr>
          <a:xfrm>
            <a:off x="20" y="10"/>
            <a:ext cx="12191979" cy="6857990"/>
          </a:xfrm>
          <a:prstGeom prst="rect">
            <a:avLst/>
          </a:prstGeom>
        </p:spPr>
      </p:pic>
      <p:sp>
        <p:nvSpPr>
          <p:cNvPr id="2" name="Title 1">
            <a:extLst>
              <a:ext uri="{FF2B5EF4-FFF2-40B4-BE49-F238E27FC236}">
                <a16:creationId xmlns:a16="http://schemas.microsoft.com/office/drawing/2014/main" id="{9D11C39A-1835-1780-257F-EADBA956FE4B}"/>
              </a:ext>
            </a:extLst>
          </p:cNvPr>
          <p:cNvSpPr>
            <a:spLocks noGrp="1"/>
          </p:cNvSpPr>
          <p:nvPr>
            <p:ph type="ctrTitle"/>
          </p:nvPr>
        </p:nvSpPr>
        <p:spPr>
          <a:xfrm>
            <a:off x="1097280" y="758952"/>
            <a:ext cx="10058400" cy="3566160"/>
          </a:xfrm>
        </p:spPr>
        <p:txBody>
          <a:bodyPr>
            <a:normAutofit/>
          </a:bodyPr>
          <a:lstStyle/>
          <a:p>
            <a:r>
              <a:rPr lang="en-US" sz="5400" dirty="0">
                <a:solidFill>
                  <a:srgbClr val="FFFFFF"/>
                </a:solidFill>
                <a:latin typeface="Grandview" panose="020B0502040204020203" pitchFamily="34" charset="0"/>
              </a:rPr>
              <a:t>Trends in Children’s Literature </a:t>
            </a:r>
            <a:br>
              <a:rPr lang="en-US" sz="5400" dirty="0">
                <a:solidFill>
                  <a:srgbClr val="FFFFFF"/>
                </a:solidFill>
                <a:latin typeface="Grandview" panose="020B0502040204020203" pitchFamily="34" charset="0"/>
              </a:rPr>
            </a:br>
            <a:r>
              <a:rPr lang="en-US" sz="5400" dirty="0">
                <a:solidFill>
                  <a:srgbClr val="FFFFFF"/>
                </a:solidFill>
                <a:latin typeface="Grandview" panose="020B0502040204020203" pitchFamily="34" charset="0"/>
              </a:rPr>
              <a:t>at the Seattle Public Library</a:t>
            </a:r>
          </a:p>
        </p:txBody>
      </p:sp>
      <p:sp>
        <p:nvSpPr>
          <p:cNvPr id="3" name="Subtitle 2">
            <a:extLst>
              <a:ext uri="{FF2B5EF4-FFF2-40B4-BE49-F238E27FC236}">
                <a16:creationId xmlns:a16="http://schemas.microsoft.com/office/drawing/2014/main" id="{B9FF4B25-7F98-23C5-2136-A60E6A99285F}"/>
              </a:ext>
            </a:extLst>
          </p:cNvPr>
          <p:cNvSpPr>
            <a:spLocks noGrp="1"/>
          </p:cNvSpPr>
          <p:nvPr>
            <p:ph type="subTitle" idx="1"/>
          </p:nvPr>
        </p:nvSpPr>
        <p:spPr>
          <a:xfrm>
            <a:off x="1100051" y="4455620"/>
            <a:ext cx="10058400" cy="1143000"/>
          </a:xfrm>
        </p:spPr>
        <p:txBody>
          <a:bodyPr>
            <a:normAutofit fontScale="92500" lnSpcReduction="10000"/>
          </a:bodyPr>
          <a:lstStyle/>
          <a:p>
            <a:r>
              <a:rPr lang="en-US" sz="2000" dirty="0">
                <a:solidFill>
                  <a:srgbClr val="FFFFFF"/>
                </a:solidFill>
                <a:effectLst>
                  <a:outerShdw blurRad="50800" dist="38100" dir="2700000" algn="tl" rotWithShape="0">
                    <a:prstClr val="black">
                      <a:alpha val="40000"/>
                    </a:prstClr>
                  </a:outerShdw>
                </a:effectLst>
              </a:rPr>
              <a:t>R. M. Edgerton</a:t>
            </a:r>
            <a:endParaRPr lang="en-US" sz="1700" dirty="0">
              <a:solidFill>
                <a:srgbClr val="FFFFFF"/>
              </a:solidFill>
              <a:effectLst>
                <a:outerShdw blurRad="50800" dist="38100" dir="2700000" algn="tl" rotWithShape="0">
                  <a:prstClr val="black">
                    <a:alpha val="40000"/>
                  </a:prstClr>
                </a:outerShdw>
              </a:effectLst>
            </a:endParaRPr>
          </a:p>
          <a:p>
            <a:r>
              <a:rPr lang="en-US" sz="1700" dirty="0">
                <a:solidFill>
                  <a:schemeClr val="accent2">
                    <a:lumMod val="60000"/>
                    <a:lumOff val="40000"/>
                  </a:schemeClr>
                </a:solidFill>
                <a:effectLst>
                  <a:outerShdw blurRad="50800" dist="38100" dir="2700000" algn="tl" rotWithShape="0">
                    <a:prstClr val="black">
                      <a:alpha val="40000"/>
                    </a:prstClr>
                  </a:outerShdw>
                </a:effectLst>
              </a:rPr>
              <a:t>January 2026 Capstone presentation</a:t>
            </a:r>
          </a:p>
          <a:p>
            <a:r>
              <a:rPr lang="en-US" sz="1700" dirty="0">
                <a:solidFill>
                  <a:schemeClr val="accent2">
                    <a:lumMod val="60000"/>
                    <a:lumOff val="40000"/>
                  </a:schemeClr>
                </a:solidFill>
                <a:effectLst>
                  <a:outerShdw blurRad="50800" dist="38100" dir="2700000" algn="tl" rotWithShape="0">
                    <a:prstClr val="black">
                      <a:alpha val="40000"/>
                    </a:prstClr>
                  </a:outerShdw>
                </a:effectLst>
              </a:rPr>
              <a:t>Nashville Software School Full-Time Data Analytics Bootcamp</a:t>
            </a:r>
          </a:p>
        </p:txBody>
      </p:sp>
      <p:cxnSp>
        <p:nvCxnSpPr>
          <p:cNvPr id="9" name="Straight Connector 8">
            <a:extLst>
              <a:ext uri="{FF2B5EF4-FFF2-40B4-BE49-F238E27FC236}">
                <a16:creationId xmlns:a16="http://schemas.microsoft.com/office/drawing/2014/main" id="{4071767D-5FF7-4508-B8B7-BB60FF3AB25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alpha val="80000"/>
              </a:schemeClr>
            </a:solidFill>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C4E89C94-E462-4566-A15A-32835FD68B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13" name="Rectangle 12">
            <a:extLst>
              <a:ext uri="{FF2B5EF4-FFF2-40B4-BE49-F238E27FC236}">
                <a16:creationId xmlns:a16="http://schemas.microsoft.com/office/drawing/2014/main" id="{E25F4A20-71FB-4A26-92E2-89DED49264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grpSp>
        <p:nvGrpSpPr>
          <p:cNvPr id="7" name="Group 6">
            <a:extLst>
              <a:ext uri="{FF2B5EF4-FFF2-40B4-BE49-F238E27FC236}">
                <a16:creationId xmlns:a16="http://schemas.microsoft.com/office/drawing/2014/main" id="{E320D9B8-A0DF-8D3E-8C34-84920C431806}"/>
              </a:ext>
            </a:extLst>
          </p:cNvPr>
          <p:cNvGrpSpPr/>
          <p:nvPr/>
        </p:nvGrpSpPr>
        <p:grpSpPr>
          <a:xfrm>
            <a:off x="8439815" y="4208381"/>
            <a:ext cx="3228473" cy="2484411"/>
            <a:chOff x="8908372" y="4155758"/>
            <a:chExt cx="2622948" cy="2018440"/>
          </a:xfrm>
        </p:grpSpPr>
        <p:pic>
          <p:nvPicPr>
            <p:cNvPr id="17" name="Picture 16" descr="Cartoon bee with sign">
              <a:extLst>
                <a:ext uri="{FF2B5EF4-FFF2-40B4-BE49-F238E27FC236}">
                  <a16:creationId xmlns:a16="http://schemas.microsoft.com/office/drawing/2014/main" id="{A079BBF0-5DEB-8F9C-49FC-02ED4199A0B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08372" y="4155758"/>
              <a:ext cx="2622948" cy="2018440"/>
            </a:xfrm>
            <a:prstGeom prst="rect">
              <a:avLst/>
            </a:prstGeom>
          </p:spPr>
        </p:pic>
        <p:pic>
          <p:nvPicPr>
            <p:cNvPr id="6" name="Picture 5">
              <a:extLst>
                <a:ext uri="{FF2B5EF4-FFF2-40B4-BE49-F238E27FC236}">
                  <a16:creationId xmlns:a16="http://schemas.microsoft.com/office/drawing/2014/main" id="{F7D408C3-4429-BC6C-8E4B-E06BA42BE751}"/>
                </a:ext>
              </a:extLst>
            </p:cNvPr>
            <p:cNvPicPr>
              <a:picLocks noChangeAspect="1"/>
            </p:cNvPicPr>
            <p:nvPr/>
          </p:nvPicPr>
          <p:blipFill>
            <a:blip r:embed="rId4">
              <a:extLst>
                <a:ext uri="{28A0092B-C50C-407E-A947-70E740481C1C}">
                  <a14:useLocalDpi xmlns:a14="http://schemas.microsoft.com/office/drawing/2010/main" val="0"/>
                </a:ext>
              </a:extLst>
            </a:blip>
            <a:srcRect l="11960" r="73067" b="50000"/>
            <a:stretch>
              <a:fillRect/>
            </a:stretch>
          </p:blipFill>
          <p:spPr>
            <a:xfrm rot="21339954">
              <a:off x="10321951" y="4685124"/>
              <a:ext cx="1135989" cy="859444"/>
            </a:xfrm>
            <a:prstGeom prst="rect">
              <a:avLst/>
            </a:prstGeom>
          </p:spPr>
        </p:pic>
      </p:grpSp>
    </p:spTree>
    <p:extLst>
      <p:ext uri="{BB962C8B-B14F-4D97-AF65-F5344CB8AC3E}">
        <p14:creationId xmlns:p14="http://schemas.microsoft.com/office/powerpoint/2010/main" val="3272702994"/>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741B58E-3B65-4A01-A276-975AB2CF8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7AAC67C3-831B-4AB1-A259-DFB839CAFA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Title 1">
            <a:extLst>
              <a:ext uri="{FF2B5EF4-FFF2-40B4-BE49-F238E27FC236}">
                <a16:creationId xmlns:a16="http://schemas.microsoft.com/office/drawing/2014/main" id="{EF6422FD-8B76-8A2C-AE80-B6A689FCDE9C}"/>
              </a:ext>
            </a:extLst>
          </p:cNvPr>
          <p:cNvSpPr>
            <a:spLocks noGrp="1"/>
          </p:cNvSpPr>
          <p:nvPr>
            <p:ph type="title"/>
          </p:nvPr>
        </p:nvSpPr>
        <p:spPr>
          <a:xfrm>
            <a:off x="4742016" y="380708"/>
            <a:ext cx="6413662" cy="1025011"/>
          </a:xfrm>
        </p:spPr>
        <p:txBody>
          <a:bodyPr anchor="b">
            <a:normAutofit/>
          </a:bodyPr>
          <a:lstStyle/>
          <a:p>
            <a:r>
              <a:rPr lang="en-US" sz="3600" dirty="0">
                <a:solidFill>
                  <a:schemeClr val="accent2">
                    <a:lumMod val="50000"/>
                  </a:schemeClr>
                </a:solidFill>
                <a:latin typeface="Grandview" panose="020B0502040204020203" pitchFamily="34" charset="0"/>
              </a:rPr>
              <a:t>Introduction</a:t>
            </a:r>
          </a:p>
        </p:txBody>
      </p:sp>
      <p:sp>
        <p:nvSpPr>
          <p:cNvPr id="12" name="Rectangle 11">
            <a:extLst>
              <a:ext uri="{FF2B5EF4-FFF2-40B4-BE49-F238E27FC236}">
                <a16:creationId xmlns:a16="http://schemas.microsoft.com/office/drawing/2014/main" id="{054B3F04-9EAC-45C0-B3CE-0387EEA10A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3" name="Content Placeholder 2">
            <a:extLst>
              <a:ext uri="{FF2B5EF4-FFF2-40B4-BE49-F238E27FC236}">
                <a16:creationId xmlns:a16="http://schemas.microsoft.com/office/drawing/2014/main" id="{5B2434EE-EA56-E4BE-25F9-D7E7B2AEC491}"/>
              </a:ext>
            </a:extLst>
          </p:cNvPr>
          <p:cNvSpPr>
            <a:spLocks noGrp="1"/>
          </p:cNvSpPr>
          <p:nvPr>
            <p:ph idx="1"/>
          </p:nvPr>
        </p:nvSpPr>
        <p:spPr>
          <a:xfrm>
            <a:off x="4742016" y="1786427"/>
            <a:ext cx="6413663" cy="4600725"/>
          </a:xfrm>
        </p:spPr>
        <p:txBody>
          <a:bodyPr anchor="t">
            <a:normAutofit lnSpcReduction="10000"/>
          </a:bodyPr>
          <a:lstStyle/>
          <a:p>
            <a:r>
              <a:rPr lang="en-US" dirty="0">
                <a:solidFill>
                  <a:schemeClr val="accent2">
                    <a:lumMod val="75000"/>
                  </a:schemeClr>
                </a:solidFill>
              </a:rPr>
              <a:t>I read a lot now, and I read a lot as a child – if I got in trouble in elementary school, it was usually for staying up past my bedtime trying to read or paying more attention to a book hidden under my desk than whatever was going on in class.</a:t>
            </a:r>
          </a:p>
          <a:p>
            <a:r>
              <a:rPr lang="en-US" dirty="0">
                <a:solidFill>
                  <a:schemeClr val="accent2">
                    <a:lumMod val="75000"/>
                  </a:schemeClr>
                </a:solidFill>
              </a:rPr>
              <a:t>I also have a deep appreciation for public libraries, which have always gifted me with books I wouldn’t have thought to look for, and which make reading a much more accessible habit than if I had to buy everything I only read once!</a:t>
            </a:r>
          </a:p>
          <a:p>
            <a:r>
              <a:rPr lang="en-US" dirty="0">
                <a:solidFill>
                  <a:schemeClr val="accent2">
                    <a:lumMod val="75000"/>
                  </a:schemeClr>
                </a:solidFill>
              </a:rPr>
              <a:t>One day, when reminiscing with other bookish friends about our favorite childhood series, I grew curious about which series from my youth are still popular, and which series current children will be nostalgic about in 20 years.</a:t>
            </a:r>
          </a:p>
          <a:p>
            <a:r>
              <a:rPr lang="en-US" dirty="0">
                <a:solidFill>
                  <a:schemeClr val="accent2">
                    <a:lumMod val="75000"/>
                  </a:schemeClr>
                </a:solidFill>
              </a:rPr>
              <a:t>Using book checkout data from the Seattle Public Library, I analyzed popular titles in children’s literature from 2005 through 2025.</a:t>
            </a:r>
          </a:p>
        </p:txBody>
      </p:sp>
      <p:sp>
        <p:nvSpPr>
          <p:cNvPr id="5" name="TextBox 4">
            <a:extLst>
              <a:ext uri="{FF2B5EF4-FFF2-40B4-BE49-F238E27FC236}">
                <a16:creationId xmlns:a16="http://schemas.microsoft.com/office/drawing/2014/main" id="{B36A7387-AF4E-DA25-57D2-925465FA3138}"/>
              </a:ext>
            </a:extLst>
          </p:cNvPr>
          <p:cNvSpPr txBox="1"/>
          <p:nvPr/>
        </p:nvSpPr>
        <p:spPr>
          <a:xfrm>
            <a:off x="566627" y="1920895"/>
            <a:ext cx="2906834" cy="3016210"/>
          </a:xfrm>
          <a:prstGeom prst="rect">
            <a:avLst/>
          </a:prstGeom>
          <a:noFill/>
        </p:spPr>
        <p:txBody>
          <a:bodyPr wrap="square" rtlCol="0">
            <a:spAutoFit/>
          </a:bodyPr>
          <a:lstStyle/>
          <a:p>
            <a:pPr algn="ctr"/>
            <a:r>
              <a:rPr lang="en-US" i="1" dirty="0">
                <a:solidFill>
                  <a:schemeClr val="bg1"/>
                </a:solidFill>
                <a:latin typeface="Georgia" panose="02040502050405020303" pitchFamily="18" charset="0"/>
              </a:rPr>
              <a:t>“There are those who say that life is like a book […] </a:t>
            </a:r>
          </a:p>
          <a:p>
            <a:pPr algn="ctr"/>
            <a:r>
              <a:rPr lang="en-US" i="1" dirty="0">
                <a:solidFill>
                  <a:schemeClr val="bg1"/>
                </a:solidFill>
                <a:latin typeface="Georgia" panose="02040502050405020303" pitchFamily="18" charset="0"/>
              </a:rPr>
              <a:t>I prefer to think that a book is like life, particularly a good one, which is well worth staying up all night to finish.”</a:t>
            </a:r>
          </a:p>
          <a:p>
            <a:endParaRPr lang="en-US" dirty="0"/>
          </a:p>
          <a:p>
            <a:pPr algn="ctr"/>
            <a:r>
              <a:rPr lang="en-US" sz="1200" dirty="0">
                <a:solidFill>
                  <a:schemeClr val="bg1"/>
                </a:solidFill>
                <a:latin typeface="Georgia" panose="02040502050405020303" pitchFamily="18" charset="0"/>
              </a:rPr>
              <a:t>LEMONY SNICKET </a:t>
            </a:r>
          </a:p>
          <a:p>
            <a:pPr algn="ctr"/>
            <a:r>
              <a:rPr lang="en-US" sz="1200" i="1" dirty="0">
                <a:solidFill>
                  <a:schemeClr val="bg1"/>
                </a:solidFill>
                <a:latin typeface="Georgia" panose="02040502050405020303" pitchFamily="18" charset="0"/>
              </a:rPr>
              <a:t>Horseradish</a:t>
            </a:r>
          </a:p>
        </p:txBody>
      </p:sp>
    </p:spTree>
    <p:extLst>
      <p:ext uri="{BB962C8B-B14F-4D97-AF65-F5344CB8AC3E}">
        <p14:creationId xmlns:p14="http://schemas.microsoft.com/office/powerpoint/2010/main" val="17233601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86308A-DB67-C513-D95D-A45E32B3B3E1}"/>
              </a:ext>
            </a:extLst>
          </p:cNvPr>
          <p:cNvSpPr>
            <a:spLocks noGrp="1"/>
          </p:cNvSpPr>
          <p:nvPr>
            <p:ph type="title"/>
          </p:nvPr>
        </p:nvSpPr>
        <p:spPr/>
        <p:txBody>
          <a:bodyPr/>
          <a:lstStyle/>
          <a:p>
            <a:r>
              <a:rPr lang="en-US" dirty="0">
                <a:solidFill>
                  <a:schemeClr val="accent2">
                    <a:lumMod val="50000"/>
                  </a:schemeClr>
                </a:solidFill>
              </a:rPr>
              <a:t>Data Acquisition &amp; Cleaning</a:t>
            </a:r>
          </a:p>
        </p:txBody>
      </p:sp>
      <p:sp>
        <p:nvSpPr>
          <p:cNvPr id="3" name="Content Placeholder 2">
            <a:extLst>
              <a:ext uri="{FF2B5EF4-FFF2-40B4-BE49-F238E27FC236}">
                <a16:creationId xmlns:a16="http://schemas.microsoft.com/office/drawing/2014/main" id="{17F826C9-0E3E-B621-9021-8606BD281ACA}"/>
              </a:ext>
            </a:extLst>
          </p:cNvPr>
          <p:cNvSpPr>
            <a:spLocks noGrp="1"/>
          </p:cNvSpPr>
          <p:nvPr>
            <p:ph idx="1"/>
          </p:nvPr>
        </p:nvSpPr>
        <p:spPr>
          <a:xfrm>
            <a:off x="1097280" y="1845734"/>
            <a:ext cx="10250170" cy="4023360"/>
          </a:xfrm>
        </p:spPr>
        <p:txBody>
          <a:bodyPr/>
          <a:lstStyle/>
          <a:p>
            <a:pPr lvl="1">
              <a:buFont typeface="Arial" panose="020B0604020202020204" pitchFamily="34" charset="0"/>
              <a:buChar char="•"/>
            </a:pPr>
            <a:r>
              <a:rPr lang="en-US" dirty="0">
                <a:solidFill>
                  <a:schemeClr val="accent2">
                    <a:lumMod val="75000"/>
                  </a:schemeClr>
                </a:solidFill>
              </a:rPr>
              <a:t>The Seattle Public Library (SPL) makes monthly checkout data by title available through Seattle’s Open Data Portal at data.seattle.gov.</a:t>
            </a:r>
          </a:p>
          <a:p>
            <a:pPr lvl="1">
              <a:buFont typeface="Arial" panose="020B0604020202020204" pitchFamily="34" charset="0"/>
              <a:buChar char="•"/>
            </a:pPr>
            <a:r>
              <a:rPr lang="en-US" dirty="0">
                <a:solidFill>
                  <a:schemeClr val="accent2">
                    <a:lumMod val="75000"/>
                  </a:schemeClr>
                </a:solidFill>
              </a:rPr>
              <a:t>After downloading the full dataset, I filtered for children’s literature by searching for titles tagged as “</a:t>
            </a:r>
            <a:r>
              <a:rPr lang="en-US" b="1" dirty="0">
                <a:solidFill>
                  <a:schemeClr val="accent2">
                    <a:lumMod val="75000"/>
                  </a:schemeClr>
                </a:solidFill>
              </a:rPr>
              <a:t>juvenile fiction</a:t>
            </a:r>
            <a:r>
              <a:rPr lang="en-US" dirty="0">
                <a:solidFill>
                  <a:schemeClr val="accent2">
                    <a:lumMod val="75000"/>
                  </a:schemeClr>
                </a:solidFill>
              </a:rPr>
              <a:t>” or “</a:t>
            </a:r>
            <a:r>
              <a:rPr lang="en-US" b="1" dirty="0">
                <a:solidFill>
                  <a:schemeClr val="accent2">
                    <a:lumMod val="75000"/>
                  </a:schemeClr>
                </a:solidFill>
              </a:rPr>
              <a:t>juvenile nonfiction</a:t>
            </a:r>
            <a:r>
              <a:rPr lang="en-US" dirty="0">
                <a:solidFill>
                  <a:schemeClr val="accent2">
                    <a:lumMod val="75000"/>
                  </a:schemeClr>
                </a:solidFill>
              </a:rPr>
              <a:t>”.  </a:t>
            </a:r>
          </a:p>
          <a:p>
            <a:pPr lvl="1">
              <a:buFont typeface="Arial" panose="020B0604020202020204" pitchFamily="34" charset="0"/>
              <a:buChar char="•"/>
            </a:pPr>
            <a:r>
              <a:rPr lang="en-US" dirty="0">
                <a:solidFill>
                  <a:schemeClr val="accent2">
                    <a:lumMod val="75000"/>
                  </a:schemeClr>
                </a:solidFill>
              </a:rPr>
              <a:t>Like many libraries, SPL’s collection also includes music and videos – so I also filtered my results to only </a:t>
            </a:r>
            <a:r>
              <a:rPr lang="en-US" b="1" dirty="0">
                <a:solidFill>
                  <a:schemeClr val="accent2">
                    <a:lumMod val="75000"/>
                  </a:schemeClr>
                </a:solidFill>
              </a:rPr>
              <a:t>books</a:t>
            </a:r>
            <a:r>
              <a:rPr lang="en-US" dirty="0">
                <a:solidFill>
                  <a:schemeClr val="accent2">
                    <a:lumMod val="75000"/>
                  </a:schemeClr>
                </a:solidFill>
              </a:rPr>
              <a:t> and </a:t>
            </a:r>
            <a:r>
              <a:rPr lang="en-US" b="1" dirty="0">
                <a:solidFill>
                  <a:schemeClr val="accent2">
                    <a:lumMod val="75000"/>
                  </a:schemeClr>
                </a:solidFill>
              </a:rPr>
              <a:t>audiobooks</a:t>
            </a:r>
            <a:r>
              <a:rPr lang="en-US" dirty="0">
                <a:solidFill>
                  <a:schemeClr val="accent2">
                    <a:lumMod val="75000"/>
                  </a:schemeClr>
                </a:solidFill>
              </a:rPr>
              <a:t> in both </a:t>
            </a:r>
            <a:r>
              <a:rPr lang="en-US" b="1" dirty="0">
                <a:solidFill>
                  <a:schemeClr val="accent2">
                    <a:lumMod val="75000"/>
                  </a:schemeClr>
                </a:solidFill>
              </a:rPr>
              <a:t>physical</a:t>
            </a:r>
            <a:r>
              <a:rPr lang="en-US" dirty="0">
                <a:solidFill>
                  <a:schemeClr val="accent2">
                    <a:lumMod val="75000"/>
                  </a:schemeClr>
                </a:solidFill>
              </a:rPr>
              <a:t> and </a:t>
            </a:r>
            <a:r>
              <a:rPr lang="en-US" b="1" dirty="0">
                <a:solidFill>
                  <a:schemeClr val="accent2">
                    <a:lumMod val="75000"/>
                  </a:schemeClr>
                </a:solidFill>
              </a:rPr>
              <a:t>digital</a:t>
            </a:r>
            <a:r>
              <a:rPr lang="en-US" dirty="0">
                <a:solidFill>
                  <a:schemeClr val="accent2">
                    <a:lumMod val="75000"/>
                  </a:schemeClr>
                </a:solidFill>
              </a:rPr>
              <a:t> formats.</a:t>
            </a:r>
          </a:p>
          <a:p>
            <a:pPr lvl="1">
              <a:buFont typeface="Arial" panose="020B0604020202020204" pitchFamily="34" charset="0"/>
              <a:buChar char="•"/>
            </a:pPr>
            <a:r>
              <a:rPr lang="en-US" dirty="0">
                <a:solidFill>
                  <a:schemeClr val="accent2">
                    <a:lumMod val="75000"/>
                  </a:schemeClr>
                </a:solidFill>
              </a:rPr>
              <a:t>This left me with </a:t>
            </a:r>
            <a:r>
              <a:rPr lang="en-US" b="1" dirty="0">
                <a:solidFill>
                  <a:schemeClr val="accent2">
                    <a:lumMod val="75000"/>
                  </a:schemeClr>
                </a:solidFill>
              </a:rPr>
              <a:t>127,254 unique titles</a:t>
            </a:r>
            <a:r>
              <a:rPr lang="en-US" dirty="0">
                <a:solidFill>
                  <a:schemeClr val="accent2">
                    <a:lumMod val="75000"/>
                  </a:schemeClr>
                </a:solidFill>
              </a:rPr>
              <a:t> and their checkout data from </a:t>
            </a:r>
            <a:r>
              <a:rPr lang="en-US" b="1" dirty="0">
                <a:solidFill>
                  <a:schemeClr val="accent2">
                    <a:lumMod val="75000"/>
                  </a:schemeClr>
                </a:solidFill>
              </a:rPr>
              <a:t>April 2005 through November 2025</a:t>
            </a:r>
            <a:r>
              <a:rPr lang="en-US" dirty="0">
                <a:solidFill>
                  <a:schemeClr val="accent2">
                    <a:lumMod val="75000"/>
                  </a:schemeClr>
                </a:solidFill>
              </a:rPr>
              <a:t>.</a:t>
            </a:r>
          </a:p>
          <a:p>
            <a:pPr lvl="1">
              <a:buFont typeface="Arial" panose="020B0604020202020204" pitchFamily="34" charset="0"/>
              <a:buChar char="•"/>
            </a:pPr>
            <a:endParaRPr lang="en-US" dirty="0">
              <a:solidFill>
                <a:schemeClr val="accent2">
                  <a:lumMod val="75000"/>
                </a:schemeClr>
              </a:solidFill>
            </a:endParaRPr>
          </a:p>
          <a:p>
            <a:endParaRPr lang="en-US" dirty="0">
              <a:solidFill>
                <a:schemeClr val="accent2">
                  <a:lumMod val="75000"/>
                </a:schemeClr>
              </a:solidFill>
            </a:endParaRPr>
          </a:p>
        </p:txBody>
      </p:sp>
      <p:pic>
        <p:nvPicPr>
          <p:cNvPr id="5" name="Picture 4" descr="Cartoon bee with magnifying glass">
            <a:extLst>
              <a:ext uri="{FF2B5EF4-FFF2-40B4-BE49-F238E27FC236}">
                <a16:creationId xmlns:a16="http://schemas.microsoft.com/office/drawing/2014/main" id="{97BCC64A-6EFA-E43F-C47D-00873BFAED7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4080" y="3903778"/>
            <a:ext cx="2415618" cy="2742343"/>
          </a:xfrm>
          <a:prstGeom prst="rect">
            <a:avLst/>
          </a:prstGeom>
        </p:spPr>
      </p:pic>
    </p:spTree>
    <p:extLst>
      <p:ext uri="{BB962C8B-B14F-4D97-AF65-F5344CB8AC3E}">
        <p14:creationId xmlns:p14="http://schemas.microsoft.com/office/powerpoint/2010/main" val="30258839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06D3B-D5ED-9B4D-3E44-CD467DC41B0F}"/>
              </a:ext>
            </a:extLst>
          </p:cNvPr>
          <p:cNvSpPr>
            <a:spLocks noGrp="1"/>
          </p:cNvSpPr>
          <p:nvPr>
            <p:ph type="title"/>
          </p:nvPr>
        </p:nvSpPr>
        <p:spPr/>
        <p:txBody>
          <a:bodyPr/>
          <a:lstStyle/>
          <a:p>
            <a:r>
              <a:rPr lang="en-US" dirty="0">
                <a:solidFill>
                  <a:schemeClr val="accent2">
                    <a:lumMod val="50000"/>
                  </a:schemeClr>
                </a:solidFill>
              </a:rPr>
              <a:t>Most Popular Titles</a:t>
            </a:r>
          </a:p>
        </p:txBody>
      </p:sp>
      <p:pic>
        <p:nvPicPr>
          <p:cNvPr id="6" name="Content Placeholder 5">
            <a:extLst>
              <a:ext uri="{FF2B5EF4-FFF2-40B4-BE49-F238E27FC236}">
                <a16:creationId xmlns:a16="http://schemas.microsoft.com/office/drawing/2014/main" id="{C20A24F9-C658-B0D8-FD25-7B886B451F2E}"/>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rcRect/>
          <a:stretch/>
        </p:blipFill>
        <p:spPr>
          <a:xfrm>
            <a:off x="541801" y="2005608"/>
            <a:ext cx="6994780" cy="4023360"/>
          </a:xfrm>
        </p:spPr>
      </p:pic>
      <p:sp>
        <p:nvSpPr>
          <p:cNvPr id="4" name="Content Placeholder 3">
            <a:extLst>
              <a:ext uri="{FF2B5EF4-FFF2-40B4-BE49-F238E27FC236}">
                <a16:creationId xmlns:a16="http://schemas.microsoft.com/office/drawing/2014/main" id="{61126170-8571-C350-655A-69D9735574A2}"/>
              </a:ext>
            </a:extLst>
          </p:cNvPr>
          <p:cNvSpPr>
            <a:spLocks noGrp="1"/>
          </p:cNvSpPr>
          <p:nvPr>
            <p:ph sz="half" idx="2"/>
          </p:nvPr>
        </p:nvSpPr>
        <p:spPr>
          <a:xfrm>
            <a:off x="7632834" y="1845945"/>
            <a:ext cx="3898231" cy="4023360"/>
          </a:xfrm>
        </p:spPr>
        <p:txBody>
          <a:bodyPr>
            <a:normAutofit fontScale="92500" lnSpcReduction="10000"/>
          </a:bodyPr>
          <a:lstStyle/>
          <a:p>
            <a:pPr marL="0" indent="0">
              <a:buNone/>
            </a:pPr>
            <a:r>
              <a:rPr lang="en-US" dirty="0">
                <a:solidFill>
                  <a:schemeClr val="accent2">
                    <a:lumMod val="75000"/>
                  </a:schemeClr>
                </a:solidFill>
              </a:rPr>
              <a:t>The top ten most checked-out children’s books were dominated by the Harry Potter series.</a:t>
            </a:r>
          </a:p>
          <a:p>
            <a:pPr marL="0" indent="0">
              <a:buNone/>
            </a:pPr>
            <a:r>
              <a:rPr lang="en-US" dirty="0">
                <a:solidFill>
                  <a:schemeClr val="accent2">
                    <a:lumMod val="75000"/>
                  </a:schemeClr>
                </a:solidFill>
              </a:rPr>
              <a:t>In addition to readers’ preferences, these most popular titles may benefit from being available during the entirety of the covered time period, or from having more copies available in the library system.</a:t>
            </a:r>
          </a:p>
          <a:p>
            <a:pPr marL="0" indent="0">
              <a:buNone/>
            </a:pPr>
            <a:endParaRPr lang="en-US" dirty="0">
              <a:solidFill>
                <a:schemeClr val="accent2">
                  <a:lumMod val="75000"/>
                </a:schemeClr>
              </a:solidFill>
            </a:endParaRPr>
          </a:p>
          <a:p>
            <a:pPr marL="0" indent="0">
              <a:buNone/>
            </a:pPr>
            <a:r>
              <a:rPr lang="en-US" dirty="0">
                <a:solidFill>
                  <a:schemeClr val="accent2">
                    <a:lumMod val="75000"/>
                  </a:schemeClr>
                </a:solidFill>
              </a:rPr>
              <a:t>Mo Willems’ </a:t>
            </a:r>
            <a:r>
              <a:rPr lang="en-US" i="1" dirty="0">
                <a:solidFill>
                  <a:schemeClr val="accent2">
                    <a:lumMod val="75000"/>
                  </a:schemeClr>
                </a:solidFill>
              </a:rPr>
              <a:t>Are You Ready to Play Outside?</a:t>
            </a:r>
            <a:r>
              <a:rPr lang="en-US" dirty="0">
                <a:solidFill>
                  <a:schemeClr val="accent2">
                    <a:lumMod val="75000"/>
                  </a:schemeClr>
                </a:solidFill>
              </a:rPr>
              <a:t> is an interesting outlier in this top ten – it’s the only picture book, and the only one with no digital checkouts!</a:t>
            </a:r>
          </a:p>
        </p:txBody>
      </p:sp>
    </p:spTree>
    <p:extLst>
      <p:ext uri="{BB962C8B-B14F-4D97-AF65-F5344CB8AC3E}">
        <p14:creationId xmlns:p14="http://schemas.microsoft.com/office/powerpoint/2010/main" val="6064949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8C573-1CE1-5645-5AAD-869A929D0630}"/>
              </a:ext>
            </a:extLst>
          </p:cNvPr>
          <p:cNvSpPr>
            <a:spLocks noGrp="1"/>
          </p:cNvSpPr>
          <p:nvPr>
            <p:ph type="title"/>
          </p:nvPr>
        </p:nvSpPr>
        <p:spPr/>
        <p:txBody>
          <a:bodyPr/>
          <a:lstStyle/>
          <a:p>
            <a:r>
              <a:rPr lang="en-US" dirty="0">
                <a:solidFill>
                  <a:schemeClr val="accent2">
                    <a:lumMod val="50000"/>
                  </a:schemeClr>
                </a:solidFill>
              </a:rPr>
              <a:t>Different Demand Patterns</a:t>
            </a:r>
          </a:p>
        </p:txBody>
      </p:sp>
      <p:pic>
        <p:nvPicPr>
          <p:cNvPr id="6" name="Content Placeholder 5">
            <a:extLst>
              <a:ext uri="{FF2B5EF4-FFF2-40B4-BE49-F238E27FC236}">
                <a16:creationId xmlns:a16="http://schemas.microsoft.com/office/drawing/2014/main" id="{8DA968D3-05A2-CC76-C778-D1F1495E5FEF}"/>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rcRect/>
          <a:stretch/>
        </p:blipFill>
        <p:spPr>
          <a:xfrm>
            <a:off x="3926491" y="1571625"/>
            <a:ext cx="7753605" cy="3101441"/>
          </a:xfrm>
        </p:spPr>
      </p:pic>
      <p:sp>
        <p:nvSpPr>
          <p:cNvPr id="4" name="Content Placeholder 3">
            <a:extLst>
              <a:ext uri="{FF2B5EF4-FFF2-40B4-BE49-F238E27FC236}">
                <a16:creationId xmlns:a16="http://schemas.microsoft.com/office/drawing/2014/main" id="{93E0AE34-F69A-5900-5C10-CBF49234D2A7}"/>
              </a:ext>
            </a:extLst>
          </p:cNvPr>
          <p:cNvSpPr>
            <a:spLocks noGrp="1"/>
          </p:cNvSpPr>
          <p:nvPr>
            <p:ph sz="half" idx="2"/>
          </p:nvPr>
        </p:nvSpPr>
        <p:spPr>
          <a:xfrm>
            <a:off x="1179195" y="4805464"/>
            <a:ext cx="10221621" cy="1874016"/>
          </a:xfrm>
        </p:spPr>
        <p:txBody>
          <a:bodyPr>
            <a:normAutofit/>
          </a:bodyPr>
          <a:lstStyle/>
          <a:p>
            <a:r>
              <a:rPr lang="en-US" sz="1800" b="1" dirty="0">
                <a:solidFill>
                  <a:schemeClr val="accent2">
                    <a:lumMod val="75000"/>
                  </a:schemeClr>
                </a:solidFill>
              </a:rPr>
              <a:t>Harry Potter and the Order of the Phoenix</a:t>
            </a:r>
            <a:r>
              <a:rPr lang="en-US" sz="1800" dirty="0">
                <a:solidFill>
                  <a:schemeClr val="accent2">
                    <a:lumMod val="75000"/>
                  </a:schemeClr>
                </a:solidFill>
              </a:rPr>
              <a:t>, the seventh most popular book overall, has had steady checkouts for the entire time frame except for periods where the library did not have digital copies available.</a:t>
            </a:r>
          </a:p>
          <a:p>
            <a:r>
              <a:rPr lang="en-US" sz="1800" b="1" dirty="0">
                <a:solidFill>
                  <a:schemeClr val="accent2">
                    <a:lumMod val="75000"/>
                  </a:schemeClr>
                </a:solidFill>
              </a:rPr>
              <a:t>Wonder</a:t>
            </a:r>
            <a:r>
              <a:rPr lang="en-US" sz="1800" dirty="0">
                <a:solidFill>
                  <a:schemeClr val="accent2">
                    <a:lumMod val="75000"/>
                  </a:schemeClr>
                </a:solidFill>
              </a:rPr>
              <a:t>, the eighth most popular, appears after its publication in 2012 and then experiences a dramatic spike in checkouts after the movie adaptation in 2017.</a:t>
            </a:r>
            <a:endParaRPr lang="en-US" sz="1800" b="1" dirty="0">
              <a:solidFill>
                <a:schemeClr val="accent2">
                  <a:lumMod val="75000"/>
                </a:schemeClr>
              </a:solidFill>
            </a:endParaRPr>
          </a:p>
        </p:txBody>
      </p:sp>
      <p:sp>
        <p:nvSpPr>
          <p:cNvPr id="7" name="Content Placeholder 3">
            <a:extLst>
              <a:ext uri="{FF2B5EF4-FFF2-40B4-BE49-F238E27FC236}">
                <a16:creationId xmlns:a16="http://schemas.microsoft.com/office/drawing/2014/main" id="{9E53BAAC-A4D9-6C41-784B-148E0D12A57A}"/>
              </a:ext>
            </a:extLst>
          </p:cNvPr>
          <p:cNvSpPr txBox="1">
            <a:spLocks/>
          </p:cNvSpPr>
          <p:nvPr/>
        </p:nvSpPr>
        <p:spPr>
          <a:xfrm>
            <a:off x="1179195" y="2052536"/>
            <a:ext cx="3100976" cy="3840582"/>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dirty="0">
                <a:solidFill>
                  <a:schemeClr val="accent2">
                    <a:lumMod val="75000"/>
                  </a:schemeClr>
                </a:solidFill>
              </a:rPr>
              <a:t>Looking at checkout numbers over time for a few of the top titles reveal that despite similar overall checkout numbers, titles can experience very different patterns in checkouts.</a:t>
            </a:r>
            <a:endParaRPr lang="en-US" b="1" dirty="0">
              <a:solidFill>
                <a:schemeClr val="accent2">
                  <a:lumMod val="75000"/>
                </a:schemeClr>
              </a:solidFill>
            </a:endParaRPr>
          </a:p>
        </p:txBody>
      </p:sp>
      <p:pic>
        <p:nvPicPr>
          <p:cNvPr id="11" name="Picture 10" descr="Chatty cartoon bee">
            <a:extLst>
              <a:ext uri="{FF2B5EF4-FFF2-40B4-BE49-F238E27FC236}">
                <a16:creationId xmlns:a16="http://schemas.microsoft.com/office/drawing/2014/main" id="{107661C5-A649-6705-9406-ECB9E2A29EE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852177" y="425545"/>
            <a:ext cx="1427985" cy="1827821"/>
          </a:xfrm>
          <a:prstGeom prst="rect">
            <a:avLst/>
          </a:prstGeom>
        </p:spPr>
      </p:pic>
    </p:spTree>
    <p:extLst>
      <p:ext uri="{BB962C8B-B14F-4D97-AF65-F5344CB8AC3E}">
        <p14:creationId xmlns:p14="http://schemas.microsoft.com/office/powerpoint/2010/main" val="5349720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600B5AE2-C5CC-499C-8F2D-249888BE22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0" name="Rectangle 29">
            <a:extLst>
              <a:ext uri="{FF2B5EF4-FFF2-40B4-BE49-F238E27FC236}">
                <a16:creationId xmlns:a16="http://schemas.microsoft.com/office/drawing/2014/main" id="{BA7A3698-B350-40E5-8475-9BCC41A089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32" name="Straight Connector 31">
            <a:extLst>
              <a:ext uri="{FF2B5EF4-FFF2-40B4-BE49-F238E27FC236}">
                <a16:creationId xmlns:a16="http://schemas.microsoft.com/office/drawing/2014/main" id="{0AC655C7-EC94-4BE6-84C8-2F9EFBBB278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34" name="Rectangle 33">
            <a:extLst>
              <a:ext uri="{FF2B5EF4-FFF2-40B4-BE49-F238E27FC236}">
                <a16:creationId xmlns:a16="http://schemas.microsoft.com/office/drawing/2014/main" id="{10162E77-11AD-44A7-84EC-40C59EEFBD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2F6541A-E791-92AD-3011-F47D55F00336}"/>
              </a:ext>
            </a:extLst>
          </p:cNvPr>
          <p:cNvSpPr>
            <a:spLocks noGrp="1"/>
          </p:cNvSpPr>
          <p:nvPr>
            <p:ph type="title"/>
          </p:nvPr>
        </p:nvSpPr>
        <p:spPr>
          <a:xfrm>
            <a:off x="7859485" y="634946"/>
            <a:ext cx="3690257" cy="1450757"/>
          </a:xfrm>
        </p:spPr>
        <p:txBody>
          <a:bodyPr vert="horz" lIns="91440" tIns="45720" rIns="91440" bIns="45720" rtlCol="0" anchor="b">
            <a:normAutofit/>
          </a:bodyPr>
          <a:lstStyle/>
          <a:p>
            <a:r>
              <a:rPr lang="en-US" kern="1200" spc="-50" baseline="0" dirty="0">
                <a:solidFill>
                  <a:schemeClr val="accent2">
                    <a:lumMod val="50000"/>
                  </a:schemeClr>
                </a:solidFill>
                <a:latin typeface="+mj-lt"/>
                <a:ea typeface="+mj-ea"/>
                <a:cs typeface="+mj-cs"/>
              </a:rPr>
              <a:t>Possible Fads</a:t>
            </a:r>
          </a:p>
        </p:txBody>
      </p:sp>
      <p:pic>
        <p:nvPicPr>
          <p:cNvPr id="6" name="Content Placeholder 5">
            <a:extLst>
              <a:ext uri="{FF2B5EF4-FFF2-40B4-BE49-F238E27FC236}">
                <a16:creationId xmlns:a16="http://schemas.microsoft.com/office/drawing/2014/main" id="{3EFE13C7-0C56-EA5E-8B86-F485380D357D}"/>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rcRect l="-1841" r="-4984"/>
          <a:stretch>
            <a:fillRect/>
          </a:stretch>
        </p:blipFill>
        <p:spPr>
          <a:xfrm>
            <a:off x="0" y="1342322"/>
            <a:ext cx="8211615" cy="4612156"/>
          </a:xfrm>
          <a:prstGeom prst="rect">
            <a:avLst/>
          </a:prstGeom>
        </p:spPr>
      </p:pic>
      <p:cxnSp>
        <p:nvCxnSpPr>
          <p:cNvPr id="36" name="Straight Connector 35">
            <a:extLst>
              <a:ext uri="{FF2B5EF4-FFF2-40B4-BE49-F238E27FC236}">
                <a16:creationId xmlns:a16="http://schemas.microsoft.com/office/drawing/2014/main" id="{5AB158E9-1B40-4CD6-95F0-95CA11DF7B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892143" y="2085703"/>
            <a:ext cx="3566160"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B88AB8E4-7A30-D023-91AB-7EBFF8765875}"/>
              </a:ext>
            </a:extLst>
          </p:cNvPr>
          <p:cNvSpPr>
            <a:spLocks noGrp="1"/>
          </p:cNvSpPr>
          <p:nvPr>
            <p:ph sz="half" idx="1"/>
          </p:nvPr>
        </p:nvSpPr>
        <p:spPr>
          <a:xfrm>
            <a:off x="7859485" y="2198913"/>
            <a:ext cx="3838144" cy="3755565"/>
          </a:xfrm>
        </p:spPr>
        <p:txBody>
          <a:bodyPr vert="horz" lIns="0" tIns="45720" rIns="0" bIns="45720" rtlCol="0">
            <a:normAutofit fontScale="55000" lnSpcReduction="20000"/>
          </a:bodyPr>
          <a:lstStyle/>
          <a:p>
            <a:pPr>
              <a:lnSpc>
                <a:spcPct val="120000"/>
              </a:lnSpc>
            </a:pPr>
            <a:r>
              <a:rPr lang="en-US" sz="2900" dirty="0">
                <a:solidFill>
                  <a:schemeClr val="accent2">
                    <a:lumMod val="75000"/>
                  </a:schemeClr>
                </a:solidFill>
              </a:rPr>
              <a:t>Without the spike following the film adaptation’s release, </a:t>
            </a:r>
            <a:r>
              <a:rPr lang="en-US" sz="2900" b="1" dirty="0">
                <a:solidFill>
                  <a:schemeClr val="accent2">
                    <a:lumMod val="75000"/>
                  </a:schemeClr>
                </a:solidFill>
              </a:rPr>
              <a:t>Wonder</a:t>
            </a:r>
            <a:r>
              <a:rPr lang="en-US" sz="2900" dirty="0">
                <a:solidFill>
                  <a:schemeClr val="accent2">
                    <a:lumMod val="75000"/>
                  </a:schemeClr>
                </a:solidFill>
              </a:rPr>
              <a:t> would’ve likely had around 4,000 fewer total checkouts, knocking it out of the top ten.  While it would still be pretty popular even then, looking for the largest spikes in checkouts may identify books that had brief moments of popularity that didn’t last.</a:t>
            </a:r>
          </a:p>
          <a:p>
            <a:pPr>
              <a:lnSpc>
                <a:spcPct val="120000"/>
              </a:lnSpc>
              <a:spcAft>
                <a:spcPts val="0"/>
              </a:spcAft>
            </a:pPr>
            <a:r>
              <a:rPr lang="en-US" sz="2900" dirty="0">
                <a:solidFill>
                  <a:schemeClr val="accent2">
                    <a:lumMod val="75000"/>
                  </a:schemeClr>
                </a:solidFill>
              </a:rPr>
              <a:t>Some titles with large spikes still maintain popularity, while others (like </a:t>
            </a:r>
            <a:r>
              <a:rPr lang="en-US" sz="2900" i="1" dirty="0">
                <a:solidFill>
                  <a:schemeClr val="accent2">
                    <a:lumMod val="75000"/>
                  </a:schemeClr>
                </a:solidFill>
              </a:rPr>
              <a:t>Turtles All the Way Down, The Red Pencil</a:t>
            </a:r>
            <a:r>
              <a:rPr lang="en-US" sz="2900" dirty="0">
                <a:solidFill>
                  <a:schemeClr val="accent2">
                    <a:lumMod val="75000"/>
                  </a:schemeClr>
                </a:solidFill>
              </a:rPr>
              <a:t>, and </a:t>
            </a:r>
            <a:r>
              <a:rPr lang="en-US" sz="2900" i="1" dirty="0" err="1">
                <a:solidFill>
                  <a:schemeClr val="accent2">
                    <a:lumMod val="75000"/>
                  </a:schemeClr>
                </a:solidFill>
              </a:rPr>
              <a:t>Mexikid</a:t>
            </a:r>
            <a:r>
              <a:rPr lang="en-US" sz="2900" dirty="0">
                <a:solidFill>
                  <a:schemeClr val="accent2">
                    <a:lumMod val="75000"/>
                  </a:schemeClr>
                </a:solidFill>
              </a:rPr>
              <a:t>) </a:t>
            </a:r>
          </a:p>
          <a:p>
            <a:pPr>
              <a:lnSpc>
                <a:spcPct val="120000"/>
              </a:lnSpc>
              <a:spcBef>
                <a:spcPts val="0"/>
              </a:spcBef>
              <a:spcAft>
                <a:spcPts val="0"/>
              </a:spcAft>
            </a:pPr>
            <a:r>
              <a:rPr lang="en-US" sz="2900" dirty="0">
                <a:solidFill>
                  <a:schemeClr val="accent2">
                    <a:lumMod val="75000"/>
                  </a:schemeClr>
                </a:solidFill>
              </a:rPr>
              <a:t>are checked out fewer than ten times </a:t>
            </a:r>
          </a:p>
          <a:p>
            <a:pPr>
              <a:lnSpc>
                <a:spcPct val="120000"/>
              </a:lnSpc>
              <a:spcBef>
                <a:spcPts val="0"/>
              </a:spcBef>
              <a:spcAft>
                <a:spcPts val="0"/>
              </a:spcAft>
            </a:pPr>
            <a:r>
              <a:rPr lang="en-US" sz="2900" dirty="0">
                <a:solidFill>
                  <a:schemeClr val="accent2">
                    <a:lumMod val="75000"/>
                  </a:schemeClr>
                </a:solidFill>
              </a:rPr>
              <a:t>most months.</a:t>
            </a:r>
          </a:p>
        </p:txBody>
      </p:sp>
      <p:sp>
        <p:nvSpPr>
          <p:cNvPr id="38" name="Rectangle 37">
            <a:extLst>
              <a:ext uri="{FF2B5EF4-FFF2-40B4-BE49-F238E27FC236}">
                <a16:creationId xmlns:a16="http://schemas.microsoft.com/office/drawing/2014/main" id="{6329CBCE-21AE-419D-AC1F-8ACF510A66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0" name="Rectangle 39">
            <a:extLst>
              <a:ext uri="{FF2B5EF4-FFF2-40B4-BE49-F238E27FC236}">
                <a16:creationId xmlns:a16="http://schemas.microsoft.com/office/drawing/2014/main" id="{FF2DA012-1414-493D-888F-5D99D0BDA3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5167651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904184B-C2D6-6F0D-58CC-9DAF711F9E50}"/>
              </a:ext>
            </a:extLst>
          </p:cNvPr>
          <p:cNvSpPr>
            <a:spLocks noGrp="1"/>
          </p:cNvSpPr>
          <p:nvPr>
            <p:ph type="title"/>
          </p:nvPr>
        </p:nvSpPr>
        <p:spPr/>
        <p:txBody>
          <a:bodyPr/>
          <a:lstStyle/>
          <a:p>
            <a:r>
              <a:rPr lang="en-US" dirty="0">
                <a:solidFill>
                  <a:schemeClr val="accent2">
                    <a:lumMod val="50000"/>
                  </a:schemeClr>
                </a:solidFill>
              </a:rPr>
              <a:t>Consistent Popularity</a:t>
            </a:r>
          </a:p>
        </p:txBody>
      </p:sp>
      <p:pic>
        <p:nvPicPr>
          <p:cNvPr id="3" name="Content Placeholder 2">
            <a:extLst>
              <a:ext uri="{FF2B5EF4-FFF2-40B4-BE49-F238E27FC236}">
                <a16:creationId xmlns:a16="http://schemas.microsoft.com/office/drawing/2014/main" id="{8D7A0364-ED04-61F5-9BFC-A40036A86006}"/>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rcRect/>
          <a:stretch/>
        </p:blipFill>
        <p:spPr>
          <a:xfrm>
            <a:off x="311992" y="2078483"/>
            <a:ext cx="6511644" cy="3906986"/>
          </a:xfrm>
        </p:spPr>
      </p:pic>
      <p:sp>
        <p:nvSpPr>
          <p:cNvPr id="6" name="Content Placeholder 5">
            <a:extLst>
              <a:ext uri="{FF2B5EF4-FFF2-40B4-BE49-F238E27FC236}">
                <a16:creationId xmlns:a16="http://schemas.microsoft.com/office/drawing/2014/main" id="{63BBE5C2-7C6E-7E65-F1E1-1ABD9BA32827}"/>
              </a:ext>
            </a:extLst>
          </p:cNvPr>
          <p:cNvSpPr>
            <a:spLocks noGrp="1"/>
          </p:cNvSpPr>
          <p:nvPr>
            <p:ph sz="half" idx="2"/>
          </p:nvPr>
        </p:nvSpPr>
        <p:spPr>
          <a:xfrm>
            <a:off x="6657278" y="1845735"/>
            <a:ext cx="4498401" cy="4023360"/>
          </a:xfrm>
        </p:spPr>
        <p:txBody>
          <a:bodyPr/>
          <a:lstStyle/>
          <a:p>
            <a:r>
              <a:rPr lang="en-US" dirty="0">
                <a:solidFill>
                  <a:schemeClr val="accent2">
                    <a:lumMod val="75000"/>
                  </a:schemeClr>
                </a:solidFill>
              </a:rPr>
              <a:t>Looking at books with the highest levels of typical monthly checkouts can help correct for both short-lived fads and books that have simply been around for a long time.  Jeff Kinney’s </a:t>
            </a:r>
            <a:r>
              <a:rPr lang="en-US" i="1" dirty="0">
                <a:solidFill>
                  <a:schemeClr val="accent2">
                    <a:lumMod val="75000"/>
                  </a:schemeClr>
                </a:solidFill>
              </a:rPr>
              <a:t>Diary of a Wimpy Kid </a:t>
            </a:r>
            <a:r>
              <a:rPr lang="en-US" dirty="0">
                <a:solidFill>
                  <a:schemeClr val="accent2">
                    <a:lumMod val="75000"/>
                  </a:schemeClr>
                </a:solidFill>
              </a:rPr>
              <a:t>series outperforms, making up six of the top ten titles.  </a:t>
            </a:r>
          </a:p>
          <a:p>
            <a:r>
              <a:rPr lang="en-US" dirty="0">
                <a:solidFill>
                  <a:schemeClr val="accent2">
                    <a:lumMod val="75000"/>
                  </a:schemeClr>
                </a:solidFill>
              </a:rPr>
              <a:t>While this method favors newer titles, nine of the ten were available for over two years and consistently popular for that entire time.</a:t>
            </a:r>
          </a:p>
        </p:txBody>
      </p:sp>
      <p:pic>
        <p:nvPicPr>
          <p:cNvPr id="9" name="Picture 8" descr="Cartoon bee with pointer">
            <a:extLst>
              <a:ext uri="{FF2B5EF4-FFF2-40B4-BE49-F238E27FC236}">
                <a16:creationId xmlns:a16="http://schemas.microsoft.com/office/drawing/2014/main" id="{BE636FC2-3152-D073-03F7-824CF5DD18F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flipH="1">
            <a:off x="4689582" y="3513936"/>
            <a:ext cx="1882667" cy="2123184"/>
          </a:xfrm>
          <a:prstGeom prst="rect">
            <a:avLst/>
          </a:prstGeom>
        </p:spPr>
      </p:pic>
    </p:spTree>
    <p:extLst>
      <p:ext uri="{BB962C8B-B14F-4D97-AF65-F5344CB8AC3E}">
        <p14:creationId xmlns:p14="http://schemas.microsoft.com/office/powerpoint/2010/main" val="28372002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D5689-F19C-09F0-FA29-B7231A0EEC96}"/>
              </a:ext>
            </a:extLst>
          </p:cNvPr>
          <p:cNvSpPr>
            <a:spLocks noGrp="1"/>
          </p:cNvSpPr>
          <p:nvPr>
            <p:ph type="title"/>
          </p:nvPr>
        </p:nvSpPr>
        <p:spPr/>
        <p:txBody>
          <a:bodyPr/>
          <a:lstStyle/>
          <a:p>
            <a:r>
              <a:rPr lang="en-US" dirty="0">
                <a:solidFill>
                  <a:schemeClr val="accent2">
                    <a:lumMod val="50000"/>
                  </a:schemeClr>
                </a:solidFill>
              </a:rPr>
              <a:t>Turnover in Popular Books</a:t>
            </a:r>
          </a:p>
        </p:txBody>
      </p:sp>
      <p:sp>
        <p:nvSpPr>
          <p:cNvPr id="3" name="Content Placeholder 2">
            <a:extLst>
              <a:ext uri="{FF2B5EF4-FFF2-40B4-BE49-F238E27FC236}">
                <a16:creationId xmlns:a16="http://schemas.microsoft.com/office/drawing/2014/main" id="{83992763-D0D0-5716-A917-56E27FF30A6A}"/>
              </a:ext>
            </a:extLst>
          </p:cNvPr>
          <p:cNvSpPr>
            <a:spLocks noGrp="1"/>
          </p:cNvSpPr>
          <p:nvPr>
            <p:ph sz="half" idx="1"/>
          </p:nvPr>
        </p:nvSpPr>
        <p:spPr/>
        <p:txBody>
          <a:bodyPr/>
          <a:lstStyle/>
          <a:p>
            <a:r>
              <a:rPr lang="en-US" dirty="0">
                <a:solidFill>
                  <a:schemeClr val="accent2">
                    <a:lumMod val="75000"/>
                  </a:schemeClr>
                </a:solidFill>
              </a:rPr>
              <a:t>A final consideration for considering which books remain popular is to look at which titles remain in the Top 100 over time.  This list experiences pretty dramatic turnover – each year, one third of top titles were not on the list the previous year, and the number of matches continues to drop off, going down to under half within just a few years.</a:t>
            </a:r>
          </a:p>
          <a:p>
            <a:r>
              <a:rPr lang="en-US" dirty="0">
                <a:solidFill>
                  <a:schemeClr val="accent2">
                    <a:lumMod val="75000"/>
                  </a:schemeClr>
                </a:solidFill>
              </a:rPr>
              <a:t>This indicates that across the two decades of the data set, the most popular books each year are overwhelmingly </a:t>
            </a:r>
            <a:r>
              <a:rPr lang="en-US" b="1" dirty="0">
                <a:solidFill>
                  <a:schemeClr val="accent2">
                    <a:lumMod val="75000"/>
                  </a:schemeClr>
                </a:solidFill>
              </a:rPr>
              <a:t>newer titles</a:t>
            </a:r>
            <a:r>
              <a:rPr lang="en-US" dirty="0">
                <a:solidFill>
                  <a:schemeClr val="accent2">
                    <a:lumMod val="75000"/>
                  </a:schemeClr>
                </a:solidFill>
              </a:rPr>
              <a:t>.</a:t>
            </a:r>
          </a:p>
        </p:txBody>
      </p:sp>
      <p:pic>
        <p:nvPicPr>
          <p:cNvPr id="6" name="Content Placeholder 5">
            <a:extLst>
              <a:ext uri="{FF2B5EF4-FFF2-40B4-BE49-F238E27FC236}">
                <a16:creationId xmlns:a16="http://schemas.microsoft.com/office/drawing/2014/main" id="{F138EF78-E331-5FE5-479B-D2346733DDDE}"/>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rcRect/>
          <a:stretch/>
        </p:blipFill>
        <p:spPr>
          <a:xfrm>
            <a:off x="6126480" y="2111111"/>
            <a:ext cx="5821010" cy="3492606"/>
          </a:xfrm>
        </p:spPr>
      </p:pic>
    </p:spTree>
    <p:extLst>
      <p:ext uri="{BB962C8B-B14F-4D97-AF65-F5344CB8AC3E}">
        <p14:creationId xmlns:p14="http://schemas.microsoft.com/office/powerpoint/2010/main" val="28176274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B1B878-0AE1-4C45-1253-CD842E609104}"/>
              </a:ext>
            </a:extLst>
          </p:cNvPr>
          <p:cNvSpPr>
            <a:spLocks noGrp="1"/>
          </p:cNvSpPr>
          <p:nvPr>
            <p:ph type="title"/>
          </p:nvPr>
        </p:nvSpPr>
        <p:spPr/>
        <p:txBody>
          <a:bodyPr/>
          <a:lstStyle/>
          <a:p>
            <a:r>
              <a:rPr lang="en-US" dirty="0">
                <a:solidFill>
                  <a:schemeClr val="accent2">
                    <a:lumMod val="50000"/>
                  </a:schemeClr>
                </a:solidFill>
              </a:rPr>
              <a:t>Conclusion</a:t>
            </a:r>
          </a:p>
        </p:txBody>
      </p:sp>
      <p:sp>
        <p:nvSpPr>
          <p:cNvPr id="3" name="Content Placeholder 2">
            <a:extLst>
              <a:ext uri="{FF2B5EF4-FFF2-40B4-BE49-F238E27FC236}">
                <a16:creationId xmlns:a16="http://schemas.microsoft.com/office/drawing/2014/main" id="{69914211-AC8B-4878-891B-7759CA3B6492}"/>
              </a:ext>
            </a:extLst>
          </p:cNvPr>
          <p:cNvSpPr>
            <a:spLocks noGrp="1"/>
          </p:cNvSpPr>
          <p:nvPr>
            <p:ph idx="1"/>
          </p:nvPr>
        </p:nvSpPr>
        <p:spPr/>
        <p:txBody>
          <a:bodyPr/>
          <a:lstStyle/>
          <a:p>
            <a:r>
              <a:rPr lang="en-US" dirty="0">
                <a:solidFill>
                  <a:schemeClr val="accent2">
                    <a:lumMod val="75000"/>
                  </a:schemeClr>
                </a:solidFill>
              </a:rPr>
              <a:t>The seven Harry Potter books were a defining children’s fiction series for millennials, but they are the only books published pre-2008 to be in the top 100 more than 75% of the time.  Otherwise, new readers in the twenty-first century have overwhelming preferred books written and published for their generation, not their older siblings or parents.  Jeff Kinney’s </a:t>
            </a:r>
            <a:r>
              <a:rPr lang="en-US" i="1" dirty="0">
                <a:solidFill>
                  <a:schemeClr val="accent2">
                    <a:lumMod val="75000"/>
                  </a:schemeClr>
                </a:solidFill>
              </a:rPr>
              <a:t>Diary of a Wimpy Kid</a:t>
            </a:r>
            <a:r>
              <a:rPr lang="en-US" dirty="0">
                <a:solidFill>
                  <a:schemeClr val="accent2">
                    <a:lumMod val="75000"/>
                  </a:schemeClr>
                </a:solidFill>
              </a:rPr>
              <a:t> and Dav Pilkey’s </a:t>
            </a:r>
            <a:r>
              <a:rPr lang="en-US" i="1" dirty="0">
                <a:solidFill>
                  <a:schemeClr val="accent2">
                    <a:lumMod val="75000"/>
                  </a:schemeClr>
                </a:solidFill>
              </a:rPr>
              <a:t>Dog Man</a:t>
            </a:r>
            <a:r>
              <a:rPr lang="en-US" dirty="0">
                <a:solidFill>
                  <a:schemeClr val="accent2">
                    <a:lumMod val="75000"/>
                  </a:schemeClr>
                </a:solidFill>
              </a:rPr>
              <a:t> dominate checkouts by 2025 and represent a shift towards graphic novels for middle grade fiction that has also been typified by adaptations of older series like Magic Tree House, The Baby-Sitter’s Club, and Goosebumps.</a:t>
            </a:r>
          </a:p>
          <a:p>
            <a:r>
              <a:rPr lang="en-US" dirty="0">
                <a:solidFill>
                  <a:schemeClr val="accent2">
                    <a:lumMod val="75000"/>
                  </a:schemeClr>
                </a:solidFill>
              </a:rPr>
              <a:t>While today’s kids might engage with some of my favorite children’s stories in new ways, I shouldn’t be surprised to learn that they are </a:t>
            </a:r>
            <a:r>
              <a:rPr lang="en-US" i="1" dirty="0">
                <a:solidFill>
                  <a:schemeClr val="accent2">
                    <a:lumMod val="75000"/>
                  </a:schemeClr>
                </a:solidFill>
              </a:rPr>
              <a:t>reading</a:t>
            </a:r>
            <a:r>
              <a:rPr lang="en-US" dirty="0">
                <a:solidFill>
                  <a:schemeClr val="accent2">
                    <a:lumMod val="75000"/>
                  </a:schemeClr>
                </a:solidFill>
              </a:rPr>
              <a:t> as well as making their own.</a:t>
            </a:r>
          </a:p>
        </p:txBody>
      </p:sp>
      <p:pic>
        <p:nvPicPr>
          <p:cNvPr id="15" name="Picture 14" descr="Cartoon bee with pencil">
            <a:extLst>
              <a:ext uri="{FF2B5EF4-FFF2-40B4-BE49-F238E27FC236}">
                <a16:creationId xmlns:a16="http://schemas.microsoft.com/office/drawing/2014/main" id="{84DCBD1A-FB04-33BF-C73D-8D84E67D2E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38502" y="4126098"/>
            <a:ext cx="2185767" cy="2346149"/>
          </a:xfrm>
          <a:prstGeom prst="rect">
            <a:avLst/>
          </a:prstGeom>
        </p:spPr>
      </p:pic>
    </p:spTree>
    <p:extLst>
      <p:ext uri="{BB962C8B-B14F-4D97-AF65-F5344CB8AC3E}">
        <p14:creationId xmlns:p14="http://schemas.microsoft.com/office/powerpoint/2010/main" val="7292738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F17E6-845E-5A4F-E369-FBDE4C0631FE}"/>
              </a:ext>
            </a:extLst>
          </p:cNvPr>
          <p:cNvSpPr>
            <a:spLocks noGrp="1"/>
          </p:cNvSpPr>
          <p:nvPr>
            <p:ph type="title"/>
          </p:nvPr>
        </p:nvSpPr>
        <p:spPr/>
        <p:txBody>
          <a:bodyPr/>
          <a:lstStyle/>
          <a:p>
            <a:r>
              <a:rPr lang="en-US" dirty="0">
                <a:solidFill>
                  <a:schemeClr val="accent1"/>
                </a:solidFill>
              </a:rPr>
              <a:t>Questions?</a:t>
            </a:r>
          </a:p>
        </p:txBody>
      </p:sp>
      <p:sp>
        <p:nvSpPr>
          <p:cNvPr id="3" name="Text Placeholder 2">
            <a:extLst>
              <a:ext uri="{FF2B5EF4-FFF2-40B4-BE49-F238E27FC236}">
                <a16:creationId xmlns:a16="http://schemas.microsoft.com/office/drawing/2014/main" id="{9C73E35E-9233-4FA9-8B86-F54422D79C28}"/>
              </a:ext>
            </a:extLst>
          </p:cNvPr>
          <p:cNvSpPr>
            <a:spLocks noGrp="1"/>
          </p:cNvSpPr>
          <p:nvPr>
            <p:ph type="body" idx="1"/>
          </p:nvPr>
        </p:nvSpPr>
        <p:spPr/>
        <p:txBody>
          <a:bodyPr/>
          <a:lstStyle/>
          <a:p>
            <a:endParaRPr lang="en-US"/>
          </a:p>
        </p:txBody>
      </p:sp>
      <p:pic>
        <p:nvPicPr>
          <p:cNvPr id="7" name="Picture 6" descr="Reading cartoon bee">
            <a:extLst>
              <a:ext uri="{FF2B5EF4-FFF2-40B4-BE49-F238E27FC236}">
                <a16:creationId xmlns:a16="http://schemas.microsoft.com/office/drawing/2014/main" id="{EFDD027E-1670-B301-6055-3FA9EB1EAC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71107" y="2681416"/>
            <a:ext cx="1503707" cy="1999735"/>
          </a:xfrm>
          <a:prstGeom prst="rect">
            <a:avLst/>
          </a:prstGeom>
        </p:spPr>
      </p:pic>
    </p:spTree>
    <p:extLst>
      <p:ext uri="{BB962C8B-B14F-4D97-AF65-F5344CB8AC3E}">
        <p14:creationId xmlns:p14="http://schemas.microsoft.com/office/powerpoint/2010/main" val="11674381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1A529C-42BD-E1CE-EF69-DCEF6D459743}"/>
              </a:ext>
            </a:extLst>
          </p:cNvPr>
          <p:cNvSpPr>
            <a:spLocks noGrp="1"/>
          </p:cNvSpPr>
          <p:nvPr>
            <p:ph type="title"/>
          </p:nvPr>
        </p:nvSpPr>
        <p:spPr/>
        <p:txBody>
          <a:bodyPr/>
          <a:lstStyle/>
          <a:p>
            <a:r>
              <a:rPr lang="en-US" dirty="0">
                <a:solidFill>
                  <a:schemeClr val="accent1"/>
                </a:solidFill>
              </a:rPr>
              <a:t>Challenge: </a:t>
            </a:r>
            <a:r>
              <a:rPr lang="en-US" dirty="0">
                <a:solidFill>
                  <a:schemeClr val="accent2">
                    <a:lumMod val="50000"/>
                  </a:schemeClr>
                </a:solidFill>
              </a:rPr>
              <a:t>What’s in a name?</a:t>
            </a:r>
          </a:p>
        </p:txBody>
      </p:sp>
      <p:sp>
        <p:nvSpPr>
          <p:cNvPr id="3" name="Content Placeholder 2">
            <a:extLst>
              <a:ext uri="{FF2B5EF4-FFF2-40B4-BE49-F238E27FC236}">
                <a16:creationId xmlns:a16="http://schemas.microsoft.com/office/drawing/2014/main" id="{2320A5DC-0D4A-C77D-783C-F83AF445BAC0}"/>
              </a:ext>
            </a:extLst>
          </p:cNvPr>
          <p:cNvSpPr>
            <a:spLocks noGrp="1"/>
          </p:cNvSpPr>
          <p:nvPr>
            <p:ph idx="1"/>
          </p:nvPr>
        </p:nvSpPr>
        <p:spPr>
          <a:xfrm>
            <a:off x="1137285" y="1737360"/>
            <a:ext cx="10058400" cy="4023360"/>
          </a:xfrm>
        </p:spPr>
        <p:txBody>
          <a:bodyPr>
            <a:noAutofit/>
          </a:bodyPr>
          <a:lstStyle/>
          <a:p>
            <a:pPr lvl="1">
              <a:lnSpc>
                <a:spcPct val="120000"/>
              </a:lnSpc>
              <a:buFont typeface="Arial" panose="020B0604020202020204" pitchFamily="34" charset="0"/>
              <a:buChar char="•"/>
            </a:pPr>
            <a:r>
              <a:rPr lang="en-US" sz="1400" dirty="0">
                <a:solidFill>
                  <a:schemeClr val="accent2">
                    <a:lumMod val="75000"/>
                  </a:schemeClr>
                </a:solidFill>
              </a:rPr>
              <a:t>One of the biggest challenges with this project was attempting to standardize what I meant when I talk about a specific “book”.  If we want to know how popular </a:t>
            </a:r>
            <a:r>
              <a:rPr lang="en-US" sz="1400" i="1" dirty="0">
                <a:solidFill>
                  <a:schemeClr val="accent2">
                    <a:lumMod val="75000"/>
                  </a:schemeClr>
                </a:solidFill>
              </a:rPr>
              <a:t>A Wrinkle in Time </a:t>
            </a:r>
            <a:r>
              <a:rPr lang="en-US" sz="1400" dirty="0">
                <a:solidFill>
                  <a:schemeClr val="accent2">
                    <a:lumMod val="75000"/>
                  </a:schemeClr>
                </a:solidFill>
              </a:rPr>
              <a:t>was in a particular month, we might not care whether it was checked out digitally or physically, whether it was an audiobook or print, or if it was a large-print edition.  But we probably </a:t>
            </a:r>
            <a:r>
              <a:rPr lang="en-US" sz="1400" i="1" dirty="0">
                <a:solidFill>
                  <a:schemeClr val="accent2">
                    <a:lumMod val="75000"/>
                  </a:schemeClr>
                </a:solidFill>
              </a:rPr>
              <a:t>would</a:t>
            </a:r>
            <a:r>
              <a:rPr lang="en-US" sz="1400" dirty="0">
                <a:solidFill>
                  <a:schemeClr val="accent2">
                    <a:lumMod val="75000"/>
                  </a:schemeClr>
                </a:solidFill>
              </a:rPr>
              <a:t> want to distinguish it from the graphic novel adaptation released in 2012.  </a:t>
            </a:r>
          </a:p>
          <a:p>
            <a:pPr lvl="1">
              <a:lnSpc>
                <a:spcPct val="120000"/>
              </a:lnSpc>
              <a:buFont typeface="Arial" panose="020B0604020202020204" pitchFamily="34" charset="0"/>
              <a:buChar char="•"/>
            </a:pPr>
            <a:r>
              <a:rPr lang="en-US" sz="1400" dirty="0">
                <a:solidFill>
                  <a:schemeClr val="accent2">
                    <a:lumMod val="75000"/>
                  </a:schemeClr>
                </a:solidFill>
              </a:rPr>
              <a:t>For maximum fidelity, I cleaned up titles and author names to identify unique works – in the case of </a:t>
            </a:r>
            <a:r>
              <a:rPr lang="en-US" sz="1400" i="1" dirty="0">
                <a:solidFill>
                  <a:schemeClr val="accent2">
                    <a:lumMod val="75000"/>
                  </a:schemeClr>
                </a:solidFill>
              </a:rPr>
              <a:t>A Wrinkle in Time</a:t>
            </a:r>
            <a:r>
              <a:rPr lang="en-US" sz="1400" dirty="0">
                <a:solidFill>
                  <a:schemeClr val="accent2">
                    <a:lumMod val="75000"/>
                  </a:schemeClr>
                </a:solidFill>
              </a:rPr>
              <a:t>, this brought the number of variations from 13 unique “books” down to just two (one of which is the graphic novel!)</a:t>
            </a:r>
          </a:p>
          <a:p>
            <a:pPr lvl="1">
              <a:lnSpc>
                <a:spcPct val="120000"/>
              </a:lnSpc>
              <a:buFont typeface="Arial" panose="020B0604020202020204" pitchFamily="34" charset="0"/>
              <a:buChar char="•"/>
            </a:pPr>
            <a:r>
              <a:rPr lang="en-US" sz="1400" dirty="0">
                <a:solidFill>
                  <a:schemeClr val="accent2">
                    <a:lumMod val="75000"/>
                  </a:schemeClr>
                </a:solidFill>
              </a:rPr>
              <a:t>Series where I noticed consistent patterns could be manually cleaned up, but there may remain titles for which different versions of the same book continued to be counted separately.</a:t>
            </a:r>
          </a:p>
          <a:p>
            <a:pPr lvl="1">
              <a:lnSpc>
                <a:spcPct val="120000"/>
              </a:lnSpc>
              <a:buFont typeface="Arial" panose="020B0604020202020204" pitchFamily="34" charset="0"/>
              <a:buChar char="•"/>
            </a:pPr>
            <a:endParaRPr lang="en-US" sz="1400" dirty="0">
              <a:solidFill>
                <a:schemeClr val="accent2">
                  <a:lumMod val="75000"/>
                </a:schemeClr>
              </a:solidFill>
            </a:endParaRPr>
          </a:p>
          <a:p>
            <a:pPr>
              <a:lnSpc>
                <a:spcPct val="120000"/>
              </a:lnSpc>
            </a:pPr>
            <a:r>
              <a:rPr lang="en-US" sz="1400" dirty="0">
                <a:solidFill>
                  <a:schemeClr val="accent2"/>
                </a:solidFill>
                <a:latin typeface="+mj-lt"/>
              </a:rPr>
              <a:t>WHAT ABOUT ISBN?</a:t>
            </a:r>
          </a:p>
          <a:p>
            <a:pPr marL="486918" lvl="1" indent="-285750">
              <a:lnSpc>
                <a:spcPct val="120000"/>
              </a:lnSpc>
              <a:buFont typeface="Arial" panose="020B0604020202020204" pitchFamily="34" charset="0"/>
              <a:buChar char="•"/>
            </a:pPr>
            <a:r>
              <a:rPr lang="en-US" sz="1400" dirty="0">
                <a:solidFill>
                  <a:schemeClr val="accent2">
                    <a:lumMod val="75000"/>
                  </a:schemeClr>
                </a:solidFill>
              </a:rPr>
              <a:t>International Standard Book Numbers (ISBNs) are exactly what they sound like, internationally standardized codes for identifying books.  Unfortunately, they are unique to different formats of books and not a solution to this situation.</a:t>
            </a:r>
          </a:p>
          <a:p>
            <a:pPr marL="486918" lvl="1" indent="-285750">
              <a:lnSpc>
                <a:spcPct val="120000"/>
              </a:lnSpc>
              <a:buFont typeface="Arial" panose="020B0604020202020204" pitchFamily="34" charset="0"/>
              <a:buChar char="•"/>
            </a:pPr>
            <a:r>
              <a:rPr lang="en-US" sz="1400" dirty="0">
                <a:solidFill>
                  <a:schemeClr val="accent2">
                    <a:lumMod val="75000"/>
                  </a:schemeClr>
                </a:solidFill>
              </a:rPr>
              <a:t>As the world becomes increasingly dependent on big data, it may be worthwhile for the library and publishing communities to consider adopting identifiers for overarching works as well as for each format.</a:t>
            </a:r>
          </a:p>
        </p:txBody>
      </p:sp>
    </p:spTree>
    <p:extLst>
      <p:ext uri="{BB962C8B-B14F-4D97-AF65-F5344CB8AC3E}">
        <p14:creationId xmlns:p14="http://schemas.microsoft.com/office/powerpoint/2010/main" val="2006992848"/>
      </p:ext>
    </p:extLst>
  </p:cSld>
  <p:clrMapOvr>
    <a:masterClrMapping/>
  </p:clrMapOvr>
</p:sld>
</file>

<file path=ppt/theme/theme1.xml><?xml version="1.0" encoding="utf-8"?>
<a:theme xmlns:a="http://schemas.openxmlformats.org/drawingml/2006/main" name="Retrospect">
  <a:themeElements>
    <a:clrScheme name="Custom 3">
      <a:dk1>
        <a:srgbClr val="000000"/>
      </a:dk1>
      <a:lt1>
        <a:sysClr val="window" lastClr="FFFFFF"/>
      </a:lt1>
      <a:dk2>
        <a:srgbClr val="5E5E5E"/>
      </a:dk2>
      <a:lt2>
        <a:srgbClr val="DDDDDD"/>
      </a:lt2>
      <a:accent1>
        <a:srgbClr val="DF5327"/>
      </a:accent1>
      <a:accent2>
        <a:srgbClr val="418AB3"/>
      </a:accent2>
      <a:accent3>
        <a:srgbClr val="F69200"/>
      </a:accent3>
      <a:accent4>
        <a:srgbClr val="838383"/>
      </a:accent4>
      <a:accent5>
        <a:srgbClr val="FEC306"/>
      </a:accent5>
      <a:accent6>
        <a:srgbClr val="A6B727"/>
      </a:accent6>
      <a:hlink>
        <a:srgbClr val="F59E00"/>
      </a:hlink>
      <a:folHlink>
        <a:srgbClr val="B2B2B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Retrospect</Template>
  <TotalTime>2603</TotalTime>
  <Words>1548</Words>
  <Application>Microsoft Office PowerPoint</Application>
  <PresentationFormat>Widescreen</PresentationFormat>
  <Paragraphs>80</Paragraphs>
  <Slides>11</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Aptos</vt:lpstr>
      <vt:lpstr>Arial</vt:lpstr>
      <vt:lpstr>Calibri</vt:lpstr>
      <vt:lpstr>Calibri Light</vt:lpstr>
      <vt:lpstr>Georgia</vt:lpstr>
      <vt:lpstr>Grandview</vt:lpstr>
      <vt:lpstr>Retrospect</vt:lpstr>
      <vt:lpstr>Trends in Children’s Literature  at the Seattle Public Library</vt:lpstr>
      <vt:lpstr>Introduction</vt:lpstr>
      <vt:lpstr>Data Acquisition &amp; Cleaning</vt:lpstr>
      <vt:lpstr>Most Popular Titles</vt:lpstr>
      <vt:lpstr>Different Demand Patterns</vt:lpstr>
      <vt:lpstr>Possible Fads</vt:lpstr>
      <vt:lpstr>Consistent Popularity</vt:lpstr>
      <vt:lpstr>Turnover in Popular Books</vt:lpstr>
      <vt:lpstr>Conclusion</vt:lpstr>
      <vt:lpstr>Questions?</vt:lpstr>
      <vt:lpstr>Challenge: What’s in a name?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Raven Edgerton</dc:creator>
  <cp:lastModifiedBy>Raven Edgerton</cp:lastModifiedBy>
  <cp:revision>11</cp:revision>
  <dcterms:created xsi:type="dcterms:W3CDTF">2025-12-19T20:17:23Z</dcterms:created>
  <dcterms:modified xsi:type="dcterms:W3CDTF">2026-01-05T19:34:40Z</dcterms:modified>
</cp:coreProperties>
</file>