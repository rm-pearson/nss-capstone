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3" r:id="rId1"/>
  </p:sldMasterIdLst>
  <p:notesMasterIdLst>
    <p:notesMasterId r:id="rId10"/>
  </p:notesMasterIdLst>
  <p:sldIdLst>
    <p:sldId id="256" r:id="rId2"/>
    <p:sldId id="257" r:id="rId3"/>
    <p:sldId id="259" r:id="rId4"/>
    <p:sldId id="261" r:id="rId5"/>
    <p:sldId id="266" r:id="rId6"/>
    <p:sldId id="267" r:id="rId7"/>
    <p:sldId id="263" r:id="rId8"/>
    <p:sldId id="260"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9602" autoAdjust="0"/>
  </p:normalViewPr>
  <p:slideViewPr>
    <p:cSldViewPr snapToGrid="0">
      <p:cViewPr varScale="1">
        <p:scale>
          <a:sx n="86" d="100"/>
          <a:sy n="86" d="100"/>
        </p:scale>
        <p:origin x="155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34F6C5-14D3-4C8A-B4DA-80FCB6E09599}" type="datetimeFigureOut">
              <a:rPr lang="en-US" smtClean="0"/>
              <a:t>12/29/2025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02EF81E-7198-4166-9295-810162322651}" type="slidenum">
              <a:rPr lang="en-US" smtClean="0"/>
              <a:t>‹#›</a:t>
            </a:fld>
            <a:endParaRPr lang="en-US"/>
          </a:p>
        </p:txBody>
      </p:sp>
    </p:spTree>
    <p:extLst>
      <p:ext uri="{BB962C8B-B14F-4D97-AF65-F5344CB8AC3E}">
        <p14:creationId xmlns:p14="http://schemas.microsoft.com/office/powerpoint/2010/main" val="17042251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Spike correlations:</a:t>
            </a:r>
          </a:p>
          <a:p>
            <a:r>
              <a:rPr lang="en-US" dirty="0"/>
              <a:t>Harry Potter – SPL re-acquires digital versions of the HP books; digital borrowing rises during COVID-19 lockdowns</a:t>
            </a:r>
          </a:p>
          <a:p>
            <a:r>
              <a:rPr lang="en-US" dirty="0"/>
              <a:t>Invisible – Unsure</a:t>
            </a:r>
          </a:p>
          <a:p>
            <a:r>
              <a:rPr lang="en-US" dirty="0"/>
              <a:t>Turtles All The Way Down – initial book release</a:t>
            </a:r>
          </a:p>
          <a:p>
            <a:r>
              <a:rPr lang="en-US" dirty="0"/>
              <a:t>The Red Pencil – unsure</a:t>
            </a:r>
          </a:p>
          <a:p>
            <a:r>
              <a:rPr lang="en-US" dirty="0"/>
              <a:t>Wonder – film release in 2017</a:t>
            </a:r>
          </a:p>
          <a:p>
            <a:r>
              <a:rPr lang="en-US" dirty="0"/>
              <a:t>The Hate U Give – unsure (spike is pre-movie release but well after book release, maybe correlates with awards?)</a:t>
            </a:r>
          </a:p>
          <a:p>
            <a:r>
              <a:rPr lang="en-US" dirty="0"/>
              <a:t>A Wrinkle in Time – 2018 film adaptation</a:t>
            </a:r>
          </a:p>
          <a:p>
            <a:r>
              <a:rPr lang="en-US" dirty="0" err="1"/>
              <a:t>Mexikid</a:t>
            </a:r>
            <a:r>
              <a:rPr lang="en-US" dirty="0"/>
              <a:t> – Newberry Honor winner</a:t>
            </a:r>
          </a:p>
          <a:p>
            <a:r>
              <a:rPr lang="en-US" dirty="0"/>
              <a:t>I Can Make This Promise – unsure</a:t>
            </a:r>
          </a:p>
          <a:p>
            <a:r>
              <a:rPr lang="en-US" dirty="0"/>
              <a:t>Hot Mess – initial release</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602EF81E-7198-4166-9295-810162322651}" type="slidenum">
              <a:rPr lang="en-US" smtClean="0"/>
              <a:t>6</a:t>
            </a:fld>
            <a:endParaRPr lang="en-US"/>
          </a:p>
        </p:txBody>
      </p:sp>
    </p:spTree>
    <p:extLst>
      <p:ext uri="{BB962C8B-B14F-4D97-AF65-F5344CB8AC3E}">
        <p14:creationId xmlns:p14="http://schemas.microsoft.com/office/powerpoint/2010/main" val="30293464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341B595-366B-43E2-A22E-EA6A78C03F06}" type="datetimeFigureOut">
              <a:rPr lang="en-US" smtClean="0"/>
              <a:t>12/29/2025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dirty="0"/>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1092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41B595-366B-43E2-A22E-EA6A78C03F06}" type="datetimeFigureOut">
              <a:rPr lang="en-US" smtClean="0"/>
              <a:t>12/29/2025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dirty="0"/>
          </a:p>
        </p:txBody>
      </p:sp>
    </p:spTree>
    <p:extLst>
      <p:ext uri="{BB962C8B-B14F-4D97-AF65-F5344CB8AC3E}">
        <p14:creationId xmlns:p14="http://schemas.microsoft.com/office/powerpoint/2010/main" val="28354330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341B595-366B-43E2-A22E-EA6A78C03F06}" type="datetimeFigureOut">
              <a:rPr lang="en-US" smtClean="0"/>
              <a:t>12/29/2025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dirty="0"/>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93877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341B595-366B-43E2-A22E-EA6A78C03F06}" type="datetimeFigureOut">
              <a:rPr lang="en-US" smtClean="0"/>
              <a:t>12/29/2025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BA915EE-10CB-4CF1-8569-6154455DA573}" type="slidenum">
              <a:rPr lang="en-US" smtClean="0"/>
              <a:t>‹#›</a:t>
            </a:fld>
            <a:endParaRPr lang="en-US" dirty="0"/>
          </a:p>
        </p:txBody>
      </p:sp>
    </p:spTree>
    <p:extLst>
      <p:ext uri="{BB962C8B-B14F-4D97-AF65-F5344CB8AC3E}">
        <p14:creationId xmlns:p14="http://schemas.microsoft.com/office/powerpoint/2010/main" val="4082778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341B595-366B-43E2-A22E-EA6A78C03F06}" type="datetimeFigureOut">
              <a:rPr lang="en-US" smtClean="0"/>
              <a:t>12/29/2025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BA915EE-10CB-4CF1-8569-6154455DA573}" type="slidenum">
              <a:rPr lang="en-US" smtClean="0"/>
              <a:t>‹#›</a:t>
            </a:fld>
            <a:endParaRPr lang="en-US" dirty="0"/>
          </a:p>
        </p:txBody>
      </p:sp>
    </p:spTree>
    <p:extLst>
      <p:ext uri="{BB962C8B-B14F-4D97-AF65-F5344CB8AC3E}">
        <p14:creationId xmlns:p14="http://schemas.microsoft.com/office/powerpoint/2010/main" val="21103843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341B595-366B-43E2-A22E-EA6A78C03F06}" type="datetimeFigureOut">
              <a:rPr lang="en-US" smtClean="0"/>
              <a:t>12/29/2025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BA915EE-10CB-4CF1-8569-6154455DA573}" type="slidenum">
              <a:rPr lang="en-US" smtClean="0"/>
              <a:t>‹#›</a:t>
            </a:fld>
            <a:endParaRPr lang="en-US" dirty="0"/>
          </a:p>
        </p:txBody>
      </p:sp>
    </p:spTree>
    <p:extLst>
      <p:ext uri="{BB962C8B-B14F-4D97-AF65-F5344CB8AC3E}">
        <p14:creationId xmlns:p14="http://schemas.microsoft.com/office/powerpoint/2010/main" val="10327259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D341B595-366B-43E2-A22E-EA6A78C03F06}" type="datetimeFigureOut">
              <a:rPr lang="en-US" smtClean="0"/>
              <a:t>12/29/2025</a:t>
            </a:fld>
            <a:endParaRPr lang="en-US" dirty="0"/>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dirty="0"/>
          </a:p>
        </p:txBody>
      </p:sp>
      <p:sp>
        <p:nvSpPr>
          <p:cNvPr id="9" name="Slide Number Placeholder 8"/>
          <p:cNvSpPr>
            <a:spLocks noGrp="1"/>
          </p:cNvSpPr>
          <p:nvPr>
            <p:ph type="sldNum" sz="quarter" idx="12"/>
          </p:nvPr>
        </p:nvSpPr>
        <p:spPr/>
        <p:txBody>
          <a:bodyPr/>
          <a:lstStyle/>
          <a:p>
            <a:fld id="{4BA915EE-10CB-4CF1-8569-6154455DA573}" type="slidenum">
              <a:rPr lang="en-US" smtClean="0"/>
              <a:t>‹#›</a:t>
            </a:fld>
            <a:endParaRPr lang="en-US" dirty="0"/>
          </a:p>
        </p:txBody>
      </p:sp>
    </p:spTree>
    <p:extLst>
      <p:ext uri="{BB962C8B-B14F-4D97-AF65-F5344CB8AC3E}">
        <p14:creationId xmlns:p14="http://schemas.microsoft.com/office/powerpoint/2010/main" val="2642524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D341B595-366B-43E2-A22E-EA6A78C03F06}" type="datetimeFigureOut">
              <a:rPr lang="en-US" smtClean="0"/>
              <a:t>12/29/2025</a:t>
            </a:fld>
            <a:endParaRPr lang="en-US" dirty="0"/>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4BA915EE-10CB-4CF1-8569-6154455DA573}" type="slidenum">
              <a:rPr lang="en-US" smtClean="0"/>
              <a:t>‹#›</a:t>
            </a:fld>
            <a:endParaRPr lang="en-US" dirty="0"/>
          </a:p>
        </p:txBody>
      </p:sp>
    </p:spTree>
    <p:extLst>
      <p:ext uri="{BB962C8B-B14F-4D97-AF65-F5344CB8AC3E}">
        <p14:creationId xmlns:p14="http://schemas.microsoft.com/office/powerpoint/2010/main" val="40708411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341B595-366B-43E2-A22E-EA6A78C03F06}" type="datetimeFigureOut">
              <a:rPr lang="en-US" smtClean="0"/>
              <a:t>12/29/2025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BA915EE-10CB-4CF1-8569-6154455DA573}" type="slidenum">
              <a:rPr lang="en-US" smtClean="0"/>
              <a:t>‹#›</a:t>
            </a:fld>
            <a:endParaRPr lang="en-US" dirty="0"/>
          </a:p>
        </p:txBody>
      </p:sp>
    </p:spTree>
    <p:extLst>
      <p:ext uri="{BB962C8B-B14F-4D97-AF65-F5344CB8AC3E}">
        <p14:creationId xmlns:p14="http://schemas.microsoft.com/office/powerpoint/2010/main" val="850302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41B595-366B-43E2-A22E-EA6A78C03F06}" type="datetimeFigureOut">
              <a:rPr lang="en-US" smtClean="0"/>
              <a:t>12/29/2025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dirty="0"/>
          </a:p>
        </p:txBody>
      </p:sp>
    </p:spTree>
    <p:extLst>
      <p:ext uri="{BB962C8B-B14F-4D97-AF65-F5344CB8AC3E}">
        <p14:creationId xmlns:p14="http://schemas.microsoft.com/office/powerpoint/2010/main" val="37565026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41B595-366B-43E2-A22E-EA6A78C03F06}" type="datetimeFigureOut">
              <a:rPr lang="en-US" smtClean="0"/>
              <a:t>12/29/2025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BA915EE-10CB-4CF1-8569-6154455DA573}" type="slidenum">
              <a:rPr lang="en-US" smtClean="0"/>
              <a:t>‹#›</a:t>
            </a:fld>
            <a:endParaRPr lang="en-US" dirty="0"/>
          </a:p>
        </p:txBody>
      </p:sp>
    </p:spTree>
    <p:extLst>
      <p:ext uri="{BB962C8B-B14F-4D97-AF65-F5344CB8AC3E}">
        <p14:creationId xmlns:p14="http://schemas.microsoft.com/office/powerpoint/2010/main" val="19906887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D341B595-366B-43E2-A22E-EA6A78C03F06}" type="datetimeFigureOut">
              <a:rPr lang="en-US" smtClean="0"/>
              <a:t>12/29/2025</a:t>
            </a:fld>
            <a:endParaRPr lang="en-US" dirty="0"/>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4BA915EE-10CB-4CF1-8569-6154455DA573}" type="slidenum">
              <a:rPr lang="en-US" smtClean="0"/>
              <a:t>‹#›</a:t>
            </a:fld>
            <a:endParaRPr lang="en-US" dirty="0"/>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3315351"/>
      </p:ext>
    </p:extLst>
  </p:cSld>
  <p:clrMap bg1="lt1" tx1="dk1" bg2="lt2" tx2="dk2" accent1="accent1" accent2="accent2" accent3="accent3" accent4="accent4" accent5="accent5" accent6="accent6" hlink="hlink" folHlink="folHlink"/>
  <p:sldLayoutIdLst>
    <p:sldLayoutId id="2147483754" r:id="rId1"/>
    <p:sldLayoutId id="2147483755" r:id="rId2"/>
    <p:sldLayoutId id="2147483756" r:id="rId3"/>
    <p:sldLayoutId id="2147483757" r:id="rId4"/>
    <p:sldLayoutId id="2147483758" r:id="rId5"/>
    <p:sldLayoutId id="2147483759" r:id="rId6"/>
    <p:sldLayoutId id="2147483760" r:id="rId7"/>
    <p:sldLayoutId id="2147483761" r:id="rId8"/>
    <p:sldLayoutId id="2147483762" r:id="rId9"/>
    <p:sldLayoutId id="2147483763" r:id="rId10"/>
    <p:sldLayoutId id="2147483764"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6000"/>
                <a:shade val="99000"/>
                <a:satMod val="140000"/>
              </a:schemeClr>
            </a:gs>
            <a:gs pos="65000">
              <a:schemeClr val="bg1">
                <a:tint val="100000"/>
                <a:shade val="80000"/>
                <a:satMod val="130000"/>
              </a:schemeClr>
            </a:gs>
            <a:gs pos="100000">
              <a:schemeClr val="bg1">
                <a:tint val="100000"/>
                <a:shade val="48000"/>
                <a:satMod val="120000"/>
              </a:schemeClr>
            </a:gs>
          </a:gsLst>
          <a:lin ang="16200000" scaled="0"/>
        </a:gradFill>
        <a:effectLst/>
      </p:bgPr>
    </p:bg>
    <p:spTree>
      <p:nvGrpSpPr>
        <p:cNvPr id="1" name=""/>
        <p:cNvGrpSpPr/>
        <p:nvPr/>
      </p:nvGrpSpPr>
      <p:grpSpPr>
        <a:xfrm>
          <a:off x="0" y="0"/>
          <a:ext cx="0" cy="0"/>
          <a:chOff x="0" y="0"/>
          <a:chExt cx="0" cy="0"/>
        </a:xfrm>
      </p:grpSpPr>
      <p:pic>
        <p:nvPicPr>
          <p:cNvPr id="4" name="Picture 3" descr="Abstract blurred public library with bookshelves">
            <a:extLst>
              <a:ext uri="{FF2B5EF4-FFF2-40B4-BE49-F238E27FC236}">
                <a16:creationId xmlns:a16="http://schemas.microsoft.com/office/drawing/2014/main" id="{1960692F-B15A-04C6-70FD-35359B47E67D}"/>
              </a:ext>
            </a:extLst>
          </p:cNvPr>
          <p:cNvPicPr>
            <a:picLocks noChangeAspect="1"/>
          </p:cNvPicPr>
          <p:nvPr/>
        </p:nvPicPr>
        <p:blipFill>
          <a:blip r:embed="rId2">
            <a:alphaModFix amt="35000"/>
          </a:blip>
          <a:srcRect t="1059" b="14671"/>
          <a:stretch>
            <a:fillRect/>
          </a:stretch>
        </p:blipFill>
        <p:spPr>
          <a:xfrm>
            <a:off x="20" y="10"/>
            <a:ext cx="12191979" cy="6857990"/>
          </a:xfrm>
          <a:prstGeom prst="rect">
            <a:avLst/>
          </a:prstGeom>
        </p:spPr>
      </p:pic>
      <p:sp>
        <p:nvSpPr>
          <p:cNvPr id="2" name="Title 1">
            <a:extLst>
              <a:ext uri="{FF2B5EF4-FFF2-40B4-BE49-F238E27FC236}">
                <a16:creationId xmlns:a16="http://schemas.microsoft.com/office/drawing/2014/main" id="{9D11C39A-1835-1780-257F-EADBA956FE4B}"/>
              </a:ext>
            </a:extLst>
          </p:cNvPr>
          <p:cNvSpPr>
            <a:spLocks noGrp="1"/>
          </p:cNvSpPr>
          <p:nvPr>
            <p:ph type="ctrTitle"/>
          </p:nvPr>
        </p:nvSpPr>
        <p:spPr>
          <a:xfrm>
            <a:off x="1097280" y="758952"/>
            <a:ext cx="10058400" cy="3566160"/>
          </a:xfrm>
        </p:spPr>
        <p:txBody>
          <a:bodyPr>
            <a:normAutofit/>
          </a:bodyPr>
          <a:lstStyle/>
          <a:p>
            <a:r>
              <a:rPr lang="en-US" sz="5400" dirty="0">
                <a:solidFill>
                  <a:srgbClr val="FFFFFF"/>
                </a:solidFill>
                <a:latin typeface="Grandview" panose="020B0502040204020203" pitchFamily="34" charset="0"/>
              </a:rPr>
              <a:t>Trends in Children’s Literature </a:t>
            </a:r>
            <a:br>
              <a:rPr lang="en-US" sz="5400" dirty="0">
                <a:solidFill>
                  <a:srgbClr val="FFFFFF"/>
                </a:solidFill>
                <a:latin typeface="Grandview" panose="020B0502040204020203" pitchFamily="34" charset="0"/>
              </a:rPr>
            </a:br>
            <a:r>
              <a:rPr lang="en-US" sz="5400" dirty="0">
                <a:solidFill>
                  <a:srgbClr val="FFFFFF"/>
                </a:solidFill>
                <a:latin typeface="Grandview" panose="020B0502040204020203" pitchFamily="34" charset="0"/>
              </a:rPr>
              <a:t>at the Seattle Public Library</a:t>
            </a:r>
          </a:p>
        </p:txBody>
      </p:sp>
      <p:sp>
        <p:nvSpPr>
          <p:cNvPr id="3" name="Subtitle 2">
            <a:extLst>
              <a:ext uri="{FF2B5EF4-FFF2-40B4-BE49-F238E27FC236}">
                <a16:creationId xmlns:a16="http://schemas.microsoft.com/office/drawing/2014/main" id="{B9FF4B25-7F98-23C5-2136-A60E6A99285F}"/>
              </a:ext>
            </a:extLst>
          </p:cNvPr>
          <p:cNvSpPr>
            <a:spLocks noGrp="1"/>
          </p:cNvSpPr>
          <p:nvPr>
            <p:ph type="subTitle" idx="1"/>
          </p:nvPr>
        </p:nvSpPr>
        <p:spPr>
          <a:xfrm>
            <a:off x="1100051" y="4455620"/>
            <a:ext cx="10058400" cy="1143000"/>
          </a:xfrm>
        </p:spPr>
        <p:txBody>
          <a:bodyPr>
            <a:normAutofit fontScale="92500" lnSpcReduction="10000"/>
          </a:bodyPr>
          <a:lstStyle/>
          <a:p>
            <a:r>
              <a:rPr lang="en-US" sz="2000" dirty="0">
                <a:solidFill>
                  <a:srgbClr val="FFFFFF"/>
                </a:solidFill>
              </a:rPr>
              <a:t>R. M. Edgerton</a:t>
            </a:r>
            <a:endParaRPr lang="en-US" sz="1700" dirty="0">
              <a:solidFill>
                <a:srgbClr val="FFFFFF"/>
              </a:solidFill>
            </a:endParaRPr>
          </a:p>
          <a:p>
            <a:r>
              <a:rPr lang="en-US" sz="1700" dirty="0">
                <a:solidFill>
                  <a:schemeClr val="accent2">
                    <a:lumMod val="60000"/>
                    <a:lumOff val="40000"/>
                  </a:schemeClr>
                </a:solidFill>
              </a:rPr>
              <a:t>January 2026 Capstone presentation</a:t>
            </a:r>
          </a:p>
          <a:p>
            <a:r>
              <a:rPr lang="en-US" sz="1700" dirty="0">
                <a:solidFill>
                  <a:schemeClr val="accent2">
                    <a:lumMod val="60000"/>
                    <a:lumOff val="40000"/>
                  </a:schemeClr>
                </a:solidFill>
              </a:rPr>
              <a:t>Nashville Software School Full-Time Data Analytics Bootcamp</a:t>
            </a:r>
          </a:p>
        </p:txBody>
      </p:sp>
      <p:cxnSp>
        <p:nvCxnSpPr>
          <p:cNvPr id="9" name="Straight Connector 8">
            <a:extLst>
              <a:ext uri="{FF2B5EF4-FFF2-40B4-BE49-F238E27FC236}">
                <a16:creationId xmlns:a16="http://schemas.microsoft.com/office/drawing/2014/main" id="{4071767D-5FF7-4508-B8B7-BB60FF3AB2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C4E89C94-E462-4566-A15A-32835FD68B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13" name="Rectangle 12">
            <a:extLst>
              <a:ext uri="{FF2B5EF4-FFF2-40B4-BE49-F238E27FC236}">
                <a16:creationId xmlns:a16="http://schemas.microsoft.com/office/drawing/2014/main" id="{E25F4A20-71FB-4A26-92E2-89DED49264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Tree>
    <p:extLst>
      <p:ext uri="{BB962C8B-B14F-4D97-AF65-F5344CB8AC3E}">
        <p14:creationId xmlns:p14="http://schemas.microsoft.com/office/powerpoint/2010/main" val="327270299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741B58E-3B65-4A01-A276-975AB2CF8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6315" cy="6858000"/>
          </a:xfrm>
          <a:prstGeom prst="rect">
            <a:avLst/>
          </a:prstGeom>
          <a:ln>
            <a:noFill/>
          </a:ln>
        </p:spPr>
        <p:style>
          <a:lnRef idx="2">
            <a:schemeClr val="accent6">
              <a:shade val="50000"/>
            </a:schemeClr>
          </a:lnRef>
          <a:fillRef idx="1001">
            <a:schemeClr val="lt1"/>
          </a:fillRef>
          <a:effectRef idx="0">
            <a:schemeClr val="accent6"/>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7AAC67C3-831B-4AB1-A259-DFB839CAFA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1">
            <a:extLst>
              <a:ext uri="{FF2B5EF4-FFF2-40B4-BE49-F238E27FC236}">
                <a16:creationId xmlns:a16="http://schemas.microsoft.com/office/drawing/2014/main" id="{EF6422FD-8B76-8A2C-AE80-B6A689FCDE9C}"/>
              </a:ext>
            </a:extLst>
          </p:cNvPr>
          <p:cNvSpPr>
            <a:spLocks noGrp="1"/>
          </p:cNvSpPr>
          <p:nvPr>
            <p:ph type="title"/>
          </p:nvPr>
        </p:nvSpPr>
        <p:spPr>
          <a:xfrm>
            <a:off x="4742016" y="380708"/>
            <a:ext cx="6413662" cy="1025011"/>
          </a:xfrm>
        </p:spPr>
        <p:txBody>
          <a:bodyPr anchor="b">
            <a:normAutofit/>
          </a:bodyPr>
          <a:lstStyle/>
          <a:p>
            <a:r>
              <a:rPr lang="en-US" sz="3600" dirty="0">
                <a:solidFill>
                  <a:schemeClr val="accent2">
                    <a:lumMod val="50000"/>
                  </a:schemeClr>
                </a:solidFill>
                <a:latin typeface="Grandview" panose="020B0502040204020203" pitchFamily="34" charset="0"/>
              </a:rPr>
              <a:t>Introduction</a:t>
            </a:r>
          </a:p>
        </p:txBody>
      </p:sp>
      <p:sp>
        <p:nvSpPr>
          <p:cNvPr id="12" name="Rectangle 11">
            <a:extLst>
              <a:ext uri="{FF2B5EF4-FFF2-40B4-BE49-F238E27FC236}">
                <a16:creationId xmlns:a16="http://schemas.microsoft.com/office/drawing/2014/main" id="{054B3F04-9EAC-45C0-B3CE-0387EEA10A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3" name="Content Placeholder 2">
            <a:extLst>
              <a:ext uri="{FF2B5EF4-FFF2-40B4-BE49-F238E27FC236}">
                <a16:creationId xmlns:a16="http://schemas.microsoft.com/office/drawing/2014/main" id="{5B2434EE-EA56-E4BE-25F9-D7E7B2AEC491}"/>
              </a:ext>
            </a:extLst>
          </p:cNvPr>
          <p:cNvSpPr>
            <a:spLocks noGrp="1"/>
          </p:cNvSpPr>
          <p:nvPr>
            <p:ph idx="1"/>
          </p:nvPr>
        </p:nvSpPr>
        <p:spPr>
          <a:xfrm>
            <a:off x="4742016" y="1786427"/>
            <a:ext cx="6413663" cy="4600725"/>
          </a:xfrm>
        </p:spPr>
        <p:txBody>
          <a:bodyPr anchor="t">
            <a:normAutofit lnSpcReduction="10000"/>
          </a:bodyPr>
          <a:lstStyle/>
          <a:p>
            <a:r>
              <a:rPr lang="en-US" dirty="0">
                <a:solidFill>
                  <a:schemeClr val="accent2">
                    <a:lumMod val="75000"/>
                  </a:schemeClr>
                </a:solidFill>
              </a:rPr>
              <a:t>I read a lot now, and I read a lot as a child – if I got in trouble in elementary school, it was usually for staying up past my bedtime trying to read, or paying more attention to a book hidden under my desk than whatever was going on in class.</a:t>
            </a:r>
          </a:p>
          <a:p>
            <a:r>
              <a:rPr lang="en-US" dirty="0">
                <a:solidFill>
                  <a:schemeClr val="accent2">
                    <a:lumMod val="75000"/>
                  </a:schemeClr>
                </a:solidFill>
              </a:rPr>
              <a:t>I also have a deep appreciation for public libraries, which have always gifted me with books I wouldn’t have thought to look for, and which make reading a much more accessible habit than if I had to buy everything I only read once!</a:t>
            </a:r>
          </a:p>
          <a:p>
            <a:r>
              <a:rPr lang="en-US" dirty="0">
                <a:solidFill>
                  <a:schemeClr val="accent2">
                    <a:lumMod val="75000"/>
                  </a:schemeClr>
                </a:solidFill>
              </a:rPr>
              <a:t>One day, when reminiscing with other bookish friends about our favorite childhood series, I grew curious about which series from my youth are still popular, and which series current children will be nostalgic about in 20 years.</a:t>
            </a:r>
          </a:p>
          <a:p>
            <a:r>
              <a:rPr lang="en-US" dirty="0">
                <a:solidFill>
                  <a:schemeClr val="accent2">
                    <a:lumMod val="75000"/>
                  </a:schemeClr>
                </a:solidFill>
              </a:rPr>
              <a:t>Using book checkout data from the Seattle Public Library, I analyzed popular titles, authors, and formats in children’s literature from 2006 through 2025.</a:t>
            </a:r>
          </a:p>
        </p:txBody>
      </p:sp>
      <p:sp>
        <p:nvSpPr>
          <p:cNvPr id="5" name="TextBox 4">
            <a:extLst>
              <a:ext uri="{FF2B5EF4-FFF2-40B4-BE49-F238E27FC236}">
                <a16:creationId xmlns:a16="http://schemas.microsoft.com/office/drawing/2014/main" id="{B36A7387-AF4E-DA25-57D2-925465FA3138}"/>
              </a:ext>
            </a:extLst>
          </p:cNvPr>
          <p:cNvSpPr txBox="1"/>
          <p:nvPr/>
        </p:nvSpPr>
        <p:spPr>
          <a:xfrm>
            <a:off x="566627" y="1920895"/>
            <a:ext cx="2906834" cy="3016210"/>
          </a:xfrm>
          <a:prstGeom prst="rect">
            <a:avLst/>
          </a:prstGeom>
          <a:noFill/>
        </p:spPr>
        <p:txBody>
          <a:bodyPr wrap="square" rtlCol="0">
            <a:spAutoFit/>
          </a:bodyPr>
          <a:lstStyle/>
          <a:p>
            <a:pPr algn="ctr"/>
            <a:r>
              <a:rPr lang="en-US" i="1" dirty="0">
                <a:solidFill>
                  <a:schemeClr val="bg1"/>
                </a:solidFill>
                <a:latin typeface="Georgia" panose="02040502050405020303" pitchFamily="18" charset="0"/>
              </a:rPr>
              <a:t>“There are those who say that life is like a book […] </a:t>
            </a:r>
          </a:p>
          <a:p>
            <a:pPr algn="ctr"/>
            <a:r>
              <a:rPr lang="en-US" i="1" dirty="0">
                <a:solidFill>
                  <a:schemeClr val="bg1"/>
                </a:solidFill>
                <a:latin typeface="Georgia" panose="02040502050405020303" pitchFamily="18" charset="0"/>
              </a:rPr>
              <a:t>I prefer to think that a book is like life, particularly a good one, which is well worth staying up all night to finish.”</a:t>
            </a:r>
          </a:p>
          <a:p>
            <a:endParaRPr lang="en-US" dirty="0"/>
          </a:p>
          <a:p>
            <a:pPr algn="ctr"/>
            <a:r>
              <a:rPr lang="en-US" sz="1200" dirty="0">
                <a:solidFill>
                  <a:schemeClr val="bg1"/>
                </a:solidFill>
                <a:latin typeface="Georgia" panose="02040502050405020303" pitchFamily="18" charset="0"/>
              </a:rPr>
              <a:t>LEMONY SNICKET </a:t>
            </a:r>
          </a:p>
          <a:p>
            <a:pPr algn="ctr"/>
            <a:r>
              <a:rPr lang="en-US" sz="1200" i="1" dirty="0">
                <a:solidFill>
                  <a:schemeClr val="bg1"/>
                </a:solidFill>
                <a:latin typeface="Georgia" panose="02040502050405020303" pitchFamily="18" charset="0"/>
              </a:rPr>
              <a:t>Horseradish</a:t>
            </a:r>
          </a:p>
        </p:txBody>
      </p:sp>
    </p:spTree>
    <p:extLst>
      <p:ext uri="{BB962C8B-B14F-4D97-AF65-F5344CB8AC3E}">
        <p14:creationId xmlns:p14="http://schemas.microsoft.com/office/powerpoint/2010/main" val="17233601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6308A-DB67-C513-D95D-A45E32B3B3E1}"/>
              </a:ext>
            </a:extLst>
          </p:cNvPr>
          <p:cNvSpPr>
            <a:spLocks noGrp="1"/>
          </p:cNvSpPr>
          <p:nvPr>
            <p:ph type="title"/>
          </p:nvPr>
        </p:nvSpPr>
        <p:spPr/>
        <p:txBody>
          <a:bodyPr/>
          <a:lstStyle/>
          <a:p>
            <a:r>
              <a:rPr lang="en-US" dirty="0">
                <a:solidFill>
                  <a:schemeClr val="accent2">
                    <a:lumMod val="50000"/>
                  </a:schemeClr>
                </a:solidFill>
              </a:rPr>
              <a:t>Data Acquisition &amp; Cleaning</a:t>
            </a:r>
          </a:p>
        </p:txBody>
      </p:sp>
      <p:sp>
        <p:nvSpPr>
          <p:cNvPr id="3" name="Content Placeholder 2">
            <a:extLst>
              <a:ext uri="{FF2B5EF4-FFF2-40B4-BE49-F238E27FC236}">
                <a16:creationId xmlns:a16="http://schemas.microsoft.com/office/drawing/2014/main" id="{17F826C9-0E3E-B621-9021-8606BD281ACA}"/>
              </a:ext>
            </a:extLst>
          </p:cNvPr>
          <p:cNvSpPr>
            <a:spLocks noGrp="1"/>
          </p:cNvSpPr>
          <p:nvPr>
            <p:ph idx="1"/>
          </p:nvPr>
        </p:nvSpPr>
        <p:spPr>
          <a:xfrm>
            <a:off x="1097280" y="1845734"/>
            <a:ext cx="10250170" cy="4023360"/>
          </a:xfrm>
        </p:spPr>
        <p:txBody>
          <a:bodyPr/>
          <a:lstStyle/>
          <a:p>
            <a:pPr lvl="1">
              <a:buFont typeface="Arial" panose="020B0604020202020204" pitchFamily="34" charset="0"/>
              <a:buChar char="•"/>
            </a:pPr>
            <a:r>
              <a:rPr lang="en-US" dirty="0">
                <a:solidFill>
                  <a:schemeClr val="accent2">
                    <a:lumMod val="75000"/>
                  </a:schemeClr>
                </a:solidFill>
              </a:rPr>
              <a:t>The Seattle Public Library (SPL) makes monthly checkout data by title available through Seattle’s Open Data Portal at data.seattle.gov.</a:t>
            </a:r>
          </a:p>
          <a:p>
            <a:pPr lvl="1">
              <a:buFont typeface="Arial" panose="020B0604020202020204" pitchFamily="34" charset="0"/>
              <a:buChar char="•"/>
            </a:pPr>
            <a:r>
              <a:rPr lang="en-US" dirty="0">
                <a:solidFill>
                  <a:schemeClr val="accent2">
                    <a:lumMod val="75000"/>
                  </a:schemeClr>
                </a:solidFill>
              </a:rPr>
              <a:t>After downloading the full dataset, I filtered for children’s literature by searching for titles tagged as “</a:t>
            </a:r>
            <a:r>
              <a:rPr lang="en-US" b="1" dirty="0">
                <a:solidFill>
                  <a:schemeClr val="accent2">
                    <a:lumMod val="75000"/>
                  </a:schemeClr>
                </a:solidFill>
              </a:rPr>
              <a:t>juvenile fiction</a:t>
            </a:r>
            <a:r>
              <a:rPr lang="en-US" dirty="0">
                <a:solidFill>
                  <a:schemeClr val="accent2">
                    <a:lumMod val="75000"/>
                  </a:schemeClr>
                </a:solidFill>
              </a:rPr>
              <a:t>” or “</a:t>
            </a:r>
            <a:r>
              <a:rPr lang="en-US" b="1" dirty="0">
                <a:solidFill>
                  <a:schemeClr val="accent2">
                    <a:lumMod val="75000"/>
                  </a:schemeClr>
                </a:solidFill>
              </a:rPr>
              <a:t>juvenile nonfiction</a:t>
            </a:r>
            <a:r>
              <a:rPr lang="en-US" dirty="0">
                <a:solidFill>
                  <a:schemeClr val="accent2">
                    <a:lumMod val="75000"/>
                  </a:schemeClr>
                </a:solidFill>
              </a:rPr>
              <a:t>”.  </a:t>
            </a:r>
          </a:p>
          <a:p>
            <a:pPr lvl="1">
              <a:buFont typeface="Arial" panose="020B0604020202020204" pitchFamily="34" charset="0"/>
              <a:buChar char="•"/>
            </a:pPr>
            <a:r>
              <a:rPr lang="en-US" dirty="0">
                <a:solidFill>
                  <a:schemeClr val="accent2">
                    <a:lumMod val="75000"/>
                  </a:schemeClr>
                </a:solidFill>
              </a:rPr>
              <a:t>Like many libraries, SPL’s collection also includes music and videos – so I also filtered my results to only </a:t>
            </a:r>
            <a:r>
              <a:rPr lang="en-US" b="1" dirty="0">
                <a:solidFill>
                  <a:schemeClr val="accent2">
                    <a:lumMod val="75000"/>
                  </a:schemeClr>
                </a:solidFill>
              </a:rPr>
              <a:t>books</a:t>
            </a:r>
            <a:r>
              <a:rPr lang="en-US" dirty="0">
                <a:solidFill>
                  <a:schemeClr val="accent2">
                    <a:lumMod val="75000"/>
                  </a:schemeClr>
                </a:solidFill>
              </a:rPr>
              <a:t> and </a:t>
            </a:r>
            <a:r>
              <a:rPr lang="en-US" b="1" dirty="0">
                <a:solidFill>
                  <a:schemeClr val="accent2">
                    <a:lumMod val="75000"/>
                  </a:schemeClr>
                </a:solidFill>
              </a:rPr>
              <a:t>audiobooks</a:t>
            </a:r>
            <a:r>
              <a:rPr lang="en-US" dirty="0">
                <a:solidFill>
                  <a:schemeClr val="accent2">
                    <a:lumMod val="75000"/>
                  </a:schemeClr>
                </a:solidFill>
              </a:rPr>
              <a:t> in both physical and digital formats.</a:t>
            </a:r>
          </a:p>
          <a:p>
            <a:pPr lvl="1">
              <a:buFont typeface="Arial" panose="020B0604020202020204" pitchFamily="34" charset="0"/>
              <a:buChar char="•"/>
            </a:pPr>
            <a:r>
              <a:rPr lang="en-US" dirty="0">
                <a:solidFill>
                  <a:schemeClr val="accent2">
                    <a:lumMod val="75000"/>
                  </a:schemeClr>
                </a:solidFill>
              </a:rPr>
              <a:t>This left me with </a:t>
            </a:r>
            <a:r>
              <a:rPr lang="en-US" b="1" dirty="0">
                <a:solidFill>
                  <a:schemeClr val="accent2">
                    <a:lumMod val="75000"/>
                  </a:schemeClr>
                </a:solidFill>
              </a:rPr>
              <a:t>130,141 unique titles</a:t>
            </a:r>
            <a:r>
              <a:rPr lang="en-US" dirty="0">
                <a:solidFill>
                  <a:schemeClr val="accent2">
                    <a:lumMod val="75000"/>
                  </a:schemeClr>
                </a:solidFill>
              </a:rPr>
              <a:t> and their checkout data from </a:t>
            </a:r>
            <a:r>
              <a:rPr lang="en-US" b="1" dirty="0">
                <a:solidFill>
                  <a:schemeClr val="accent2">
                    <a:lumMod val="75000"/>
                  </a:schemeClr>
                </a:solidFill>
              </a:rPr>
              <a:t>April 2005 through November 2025</a:t>
            </a:r>
            <a:r>
              <a:rPr lang="en-US" dirty="0">
                <a:solidFill>
                  <a:schemeClr val="accent2">
                    <a:lumMod val="75000"/>
                  </a:schemeClr>
                </a:solidFill>
              </a:rPr>
              <a:t>.</a:t>
            </a:r>
          </a:p>
          <a:p>
            <a:pPr lvl="1">
              <a:buFont typeface="Arial" panose="020B0604020202020204" pitchFamily="34" charset="0"/>
              <a:buChar char="•"/>
            </a:pPr>
            <a:endParaRPr lang="en-US" dirty="0">
              <a:solidFill>
                <a:schemeClr val="accent2">
                  <a:lumMod val="75000"/>
                </a:schemeClr>
              </a:solidFill>
            </a:endParaRPr>
          </a:p>
          <a:p>
            <a:endParaRPr lang="en-US" dirty="0">
              <a:solidFill>
                <a:schemeClr val="accent2">
                  <a:lumMod val="75000"/>
                </a:schemeClr>
              </a:solidFill>
            </a:endParaRPr>
          </a:p>
        </p:txBody>
      </p:sp>
    </p:spTree>
    <p:extLst>
      <p:ext uri="{BB962C8B-B14F-4D97-AF65-F5344CB8AC3E}">
        <p14:creationId xmlns:p14="http://schemas.microsoft.com/office/powerpoint/2010/main" val="30258839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06D3B-D5ED-9B4D-3E44-CD467DC41B0F}"/>
              </a:ext>
            </a:extLst>
          </p:cNvPr>
          <p:cNvSpPr>
            <a:spLocks noGrp="1"/>
          </p:cNvSpPr>
          <p:nvPr>
            <p:ph type="title"/>
          </p:nvPr>
        </p:nvSpPr>
        <p:spPr/>
        <p:txBody>
          <a:bodyPr/>
          <a:lstStyle/>
          <a:p>
            <a:r>
              <a:rPr lang="en-US" dirty="0">
                <a:solidFill>
                  <a:schemeClr val="accent2">
                    <a:lumMod val="50000"/>
                  </a:schemeClr>
                </a:solidFill>
              </a:rPr>
              <a:t>Most Popular Titles</a:t>
            </a:r>
          </a:p>
        </p:txBody>
      </p:sp>
      <p:pic>
        <p:nvPicPr>
          <p:cNvPr id="6" name="Content Placeholder 5">
            <a:extLst>
              <a:ext uri="{FF2B5EF4-FFF2-40B4-BE49-F238E27FC236}">
                <a16:creationId xmlns:a16="http://schemas.microsoft.com/office/drawing/2014/main" id="{C20A24F9-C658-B0D8-FD25-7B886B451F2E}"/>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a:stretch/>
        </p:blipFill>
        <p:spPr>
          <a:xfrm>
            <a:off x="1096963" y="2005608"/>
            <a:ext cx="6439618" cy="3704034"/>
          </a:xfrm>
        </p:spPr>
      </p:pic>
      <p:sp>
        <p:nvSpPr>
          <p:cNvPr id="4" name="Content Placeholder 3">
            <a:extLst>
              <a:ext uri="{FF2B5EF4-FFF2-40B4-BE49-F238E27FC236}">
                <a16:creationId xmlns:a16="http://schemas.microsoft.com/office/drawing/2014/main" id="{61126170-8571-C350-655A-69D9735574A2}"/>
              </a:ext>
            </a:extLst>
          </p:cNvPr>
          <p:cNvSpPr>
            <a:spLocks noGrp="1"/>
          </p:cNvSpPr>
          <p:nvPr>
            <p:ph sz="half" idx="2"/>
          </p:nvPr>
        </p:nvSpPr>
        <p:spPr>
          <a:xfrm>
            <a:off x="7632834" y="1845945"/>
            <a:ext cx="3898231" cy="4023360"/>
          </a:xfrm>
        </p:spPr>
        <p:txBody>
          <a:bodyPr>
            <a:normAutofit fontScale="92500" lnSpcReduction="10000"/>
          </a:bodyPr>
          <a:lstStyle/>
          <a:p>
            <a:pPr marL="0" indent="0">
              <a:buNone/>
            </a:pPr>
            <a:r>
              <a:rPr lang="en-US" dirty="0">
                <a:solidFill>
                  <a:schemeClr val="accent2">
                    <a:lumMod val="75000"/>
                  </a:schemeClr>
                </a:solidFill>
              </a:rPr>
              <a:t>The top ten most checked-out children’s books were dominated by the Harry Potter series.</a:t>
            </a:r>
          </a:p>
          <a:p>
            <a:pPr marL="0" indent="0">
              <a:buNone/>
            </a:pPr>
            <a:r>
              <a:rPr lang="en-US" dirty="0">
                <a:solidFill>
                  <a:schemeClr val="accent2">
                    <a:lumMod val="75000"/>
                  </a:schemeClr>
                </a:solidFill>
              </a:rPr>
              <a:t>In addition to readers’ preferences, these most popular titles may benefit from being available during the entirety of the covered time period, or from having more copies available in the library system.</a:t>
            </a:r>
          </a:p>
          <a:p>
            <a:pPr marL="0" indent="0">
              <a:buNone/>
            </a:pPr>
            <a:endParaRPr lang="en-US" dirty="0">
              <a:solidFill>
                <a:schemeClr val="accent2">
                  <a:lumMod val="75000"/>
                </a:schemeClr>
              </a:solidFill>
            </a:endParaRPr>
          </a:p>
          <a:p>
            <a:pPr marL="0" indent="0">
              <a:buNone/>
            </a:pPr>
            <a:r>
              <a:rPr lang="en-US" dirty="0">
                <a:solidFill>
                  <a:schemeClr val="accent2">
                    <a:lumMod val="75000"/>
                  </a:schemeClr>
                </a:solidFill>
              </a:rPr>
              <a:t>Mo Willems’ </a:t>
            </a:r>
            <a:r>
              <a:rPr lang="en-US" i="1" dirty="0">
                <a:solidFill>
                  <a:schemeClr val="accent2">
                    <a:lumMod val="75000"/>
                  </a:schemeClr>
                </a:solidFill>
              </a:rPr>
              <a:t>Are You Ready to Play Outside?</a:t>
            </a:r>
            <a:r>
              <a:rPr lang="en-US" dirty="0">
                <a:solidFill>
                  <a:schemeClr val="accent2">
                    <a:lumMod val="75000"/>
                  </a:schemeClr>
                </a:solidFill>
              </a:rPr>
              <a:t> is an interesting outlier in this top ten – it’s the only picture book, and the only one with no digital checkouts!</a:t>
            </a:r>
          </a:p>
        </p:txBody>
      </p:sp>
    </p:spTree>
    <p:extLst>
      <p:ext uri="{BB962C8B-B14F-4D97-AF65-F5344CB8AC3E}">
        <p14:creationId xmlns:p14="http://schemas.microsoft.com/office/powerpoint/2010/main" val="6064949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8C573-1CE1-5645-5AAD-869A929D0630}"/>
              </a:ext>
            </a:extLst>
          </p:cNvPr>
          <p:cNvSpPr>
            <a:spLocks noGrp="1"/>
          </p:cNvSpPr>
          <p:nvPr>
            <p:ph type="title"/>
          </p:nvPr>
        </p:nvSpPr>
        <p:spPr/>
        <p:txBody>
          <a:bodyPr/>
          <a:lstStyle/>
          <a:p>
            <a:r>
              <a:rPr lang="en-US" dirty="0">
                <a:solidFill>
                  <a:schemeClr val="accent2">
                    <a:lumMod val="50000"/>
                  </a:schemeClr>
                </a:solidFill>
              </a:rPr>
              <a:t>Different Demand Patterns</a:t>
            </a:r>
          </a:p>
        </p:txBody>
      </p:sp>
      <p:pic>
        <p:nvPicPr>
          <p:cNvPr id="6" name="Content Placeholder 5">
            <a:extLst>
              <a:ext uri="{FF2B5EF4-FFF2-40B4-BE49-F238E27FC236}">
                <a16:creationId xmlns:a16="http://schemas.microsoft.com/office/drawing/2014/main" id="{8DA968D3-05A2-CC76-C778-D1F1495E5FEF}"/>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a:stretch/>
        </p:blipFill>
        <p:spPr>
          <a:xfrm>
            <a:off x="3926491" y="1571625"/>
            <a:ext cx="7753605" cy="3101441"/>
          </a:xfrm>
        </p:spPr>
      </p:pic>
      <p:sp>
        <p:nvSpPr>
          <p:cNvPr id="4" name="Content Placeholder 3">
            <a:extLst>
              <a:ext uri="{FF2B5EF4-FFF2-40B4-BE49-F238E27FC236}">
                <a16:creationId xmlns:a16="http://schemas.microsoft.com/office/drawing/2014/main" id="{93E0AE34-F69A-5900-5C10-CBF49234D2A7}"/>
              </a:ext>
            </a:extLst>
          </p:cNvPr>
          <p:cNvSpPr>
            <a:spLocks noGrp="1"/>
          </p:cNvSpPr>
          <p:nvPr>
            <p:ph sz="half" idx="2"/>
          </p:nvPr>
        </p:nvSpPr>
        <p:spPr>
          <a:xfrm>
            <a:off x="1179195" y="4805464"/>
            <a:ext cx="10221621" cy="1874016"/>
          </a:xfrm>
        </p:spPr>
        <p:txBody>
          <a:bodyPr>
            <a:normAutofit/>
          </a:bodyPr>
          <a:lstStyle/>
          <a:p>
            <a:r>
              <a:rPr lang="en-US" sz="1800" b="1" dirty="0">
                <a:solidFill>
                  <a:schemeClr val="accent2">
                    <a:lumMod val="75000"/>
                  </a:schemeClr>
                </a:solidFill>
              </a:rPr>
              <a:t>Harry Potter and the Order of the Phoenix</a:t>
            </a:r>
            <a:r>
              <a:rPr lang="en-US" sz="1800" dirty="0">
                <a:solidFill>
                  <a:schemeClr val="accent2">
                    <a:lumMod val="75000"/>
                  </a:schemeClr>
                </a:solidFill>
              </a:rPr>
              <a:t>, the seventh most popular book overall, has had steady checkouts for the entire time frame except for periods where the library did not have digital copies available.</a:t>
            </a:r>
          </a:p>
          <a:p>
            <a:r>
              <a:rPr lang="en-US" sz="1800" b="1" dirty="0">
                <a:solidFill>
                  <a:schemeClr val="accent2">
                    <a:lumMod val="75000"/>
                  </a:schemeClr>
                </a:solidFill>
              </a:rPr>
              <a:t>Wonder</a:t>
            </a:r>
            <a:r>
              <a:rPr lang="en-US" sz="1800" dirty="0">
                <a:solidFill>
                  <a:schemeClr val="accent2">
                    <a:lumMod val="75000"/>
                  </a:schemeClr>
                </a:solidFill>
              </a:rPr>
              <a:t>, the eighth most popular, appears after its publication in 2012 and then experiences a dramatic spike in checkouts after the movie adaptation in 2017.</a:t>
            </a:r>
            <a:endParaRPr lang="en-US" sz="1800" b="1" dirty="0">
              <a:solidFill>
                <a:schemeClr val="accent2">
                  <a:lumMod val="75000"/>
                </a:schemeClr>
              </a:solidFill>
            </a:endParaRPr>
          </a:p>
        </p:txBody>
      </p:sp>
      <p:sp>
        <p:nvSpPr>
          <p:cNvPr id="7" name="Content Placeholder 3">
            <a:extLst>
              <a:ext uri="{FF2B5EF4-FFF2-40B4-BE49-F238E27FC236}">
                <a16:creationId xmlns:a16="http://schemas.microsoft.com/office/drawing/2014/main" id="{9E53BAAC-A4D9-6C41-784B-148E0D12A57A}"/>
              </a:ext>
            </a:extLst>
          </p:cNvPr>
          <p:cNvSpPr txBox="1">
            <a:spLocks/>
          </p:cNvSpPr>
          <p:nvPr/>
        </p:nvSpPr>
        <p:spPr>
          <a:xfrm>
            <a:off x="1179195" y="2052536"/>
            <a:ext cx="3100976" cy="3840582"/>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US" dirty="0">
                <a:solidFill>
                  <a:schemeClr val="accent2">
                    <a:lumMod val="75000"/>
                  </a:schemeClr>
                </a:solidFill>
              </a:rPr>
              <a:t>Looking at checkout numbers over time for a few of the top titles reveal that despite similar overall checkout numbers, titles can experience very different patterns in checkouts.</a:t>
            </a:r>
            <a:endParaRPr lang="en-US" b="1" dirty="0">
              <a:solidFill>
                <a:schemeClr val="accent2">
                  <a:lumMod val="75000"/>
                </a:schemeClr>
              </a:solidFill>
            </a:endParaRPr>
          </a:p>
        </p:txBody>
      </p:sp>
    </p:spTree>
    <p:extLst>
      <p:ext uri="{BB962C8B-B14F-4D97-AF65-F5344CB8AC3E}">
        <p14:creationId xmlns:p14="http://schemas.microsoft.com/office/powerpoint/2010/main" val="534972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600B5AE2-C5CC-499C-8F2D-249888BE22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BA7A3698-B350-40E5-8475-9BCC41A089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32" name="Straight Connector 31">
            <a:extLst>
              <a:ext uri="{FF2B5EF4-FFF2-40B4-BE49-F238E27FC236}">
                <a16:creationId xmlns:a16="http://schemas.microsoft.com/office/drawing/2014/main" id="{0AC655C7-EC94-4BE6-84C8-2F9EFBBB278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34" name="Rectangle 33">
            <a:extLst>
              <a:ext uri="{FF2B5EF4-FFF2-40B4-BE49-F238E27FC236}">
                <a16:creationId xmlns:a16="http://schemas.microsoft.com/office/drawing/2014/main" id="{10162E77-11AD-44A7-84EC-40C59EEFBD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F6541A-E791-92AD-3011-F47D55F00336}"/>
              </a:ext>
            </a:extLst>
          </p:cNvPr>
          <p:cNvSpPr>
            <a:spLocks noGrp="1"/>
          </p:cNvSpPr>
          <p:nvPr>
            <p:ph type="title"/>
          </p:nvPr>
        </p:nvSpPr>
        <p:spPr>
          <a:xfrm>
            <a:off x="7859485" y="634946"/>
            <a:ext cx="3690257" cy="1450757"/>
          </a:xfrm>
        </p:spPr>
        <p:txBody>
          <a:bodyPr vert="horz" lIns="91440" tIns="45720" rIns="91440" bIns="45720" rtlCol="0" anchor="b">
            <a:normAutofit/>
          </a:bodyPr>
          <a:lstStyle/>
          <a:p>
            <a:r>
              <a:rPr lang="en-US" kern="1200" spc="-50" baseline="0" dirty="0">
                <a:solidFill>
                  <a:schemeClr val="accent2">
                    <a:lumMod val="50000"/>
                  </a:schemeClr>
                </a:solidFill>
                <a:latin typeface="+mj-lt"/>
                <a:ea typeface="+mj-ea"/>
                <a:cs typeface="+mj-cs"/>
              </a:rPr>
              <a:t>Possible Fads</a:t>
            </a:r>
          </a:p>
        </p:txBody>
      </p:sp>
      <p:pic>
        <p:nvPicPr>
          <p:cNvPr id="6" name="Content Placeholder 5">
            <a:extLst>
              <a:ext uri="{FF2B5EF4-FFF2-40B4-BE49-F238E27FC236}">
                <a16:creationId xmlns:a16="http://schemas.microsoft.com/office/drawing/2014/main" id="{3EFE13C7-0C56-EA5E-8B86-F485380D357D}"/>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l="-6595" r="-1160" b="-2"/>
          <a:stretch>
            <a:fillRect/>
          </a:stretch>
        </p:blipFill>
        <p:spPr>
          <a:xfrm>
            <a:off x="-333375" y="1038998"/>
            <a:ext cx="8211094" cy="4572177"/>
          </a:xfrm>
          <a:prstGeom prst="rect">
            <a:avLst/>
          </a:prstGeom>
        </p:spPr>
      </p:pic>
      <p:cxnSp>
        <p:nvCxnSpPr>
          <p:cNvPr id="36" name="Straight Connector 35">
            <a:extLst>
              <a:ext uri="{FF2B5EF4-FFF2-40B4-BE49-F238E27FC236}">
                <a16:creationId xmlns:a16="http://schemas.microsoft.com/office/drawing/2014/main" id="{5AB158E9-1B40-4CD6-95F0-95CA11DF7B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892143" y="2085703"/>
            <a:ext cx="3566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88AB8E4-7A30-D023-91AB-7EBFF8765875}"/>
              </a:ext>
            </a:extLst>
          </p:cNvPr>
          <p:cNvSpPr>
            <a:spLocks noGrp="1"/>
          </p:cNvSpPr>
          <p:nvPr>
            <p:ph sz="half" idx="1"/>
          </p:nvPr>
        </p:nvSpPr>
        <p:spPr>
          <a:xfrm>
            <a:off x="7859485" y="2198913"/>
            <a:ext cx="3838144" cy="3755565"/>
          </a:xfrm>
        </p:spPr>
        <p:txBody>
          <a:bodyPr vert="horz" lIns="0" tIns="45720" rIns="0" bIns="45720" rtlCol="0">
            <a:normAutofit fontScale="55000" lnSpcReduction="20000"/>
          </a:bodyPr>
          <a:lstStyle/>
          <a:p>
            <a:pPr>
              <a:lnSpc>
                <a:spcPct val="120000"/>
              </a:lnSpc>
            </a:pPr>
            <a:r>
              <a:rPr lang="en-US" sz="2900" dirty="0">
                <a:solidFill>
                  <a:schemeClr val="accent2">
                    <a:lumMod val="75000"/>
                  </a:schemeClr>
                </a:solidFill>
              </a:rPr>
              <a:t>Without the spike following the film adaptation’s release, </a:t>
            </a:r>
            <a:r>
              <a:rPr lang="en-US" sz="2900" b="1" dirty="0">
                <a:solidFill>
                  <a:schemeClr val="accent2">
                    <a:lumMod val="75000"/>
                  </a:schemeClr>
                </a:solidFill>
              </a:rPr>
              <a:t>Wonder</a:t>
            </a:r>
            <a:r>
              <a:rPr lang="en-US" sz="2900" dirty="0">
                <a:solidFill>
                  <a:schemeClr val="accent2">
                    <a:lumMod val="75000"/>
                  </a:schemeClr>
                </a:solidFill>
              </a:rPr>
              <a:t> would’ve likely had around 4,000 fewer total checkouts, knocking it out of the top ten.  While it would still be pretty popular even then, looking for the largest spikes in checkouts may identify books that had brief moments of popularity that didn’t last.</a:t>
            </a:r>
          </a:p>
          <a:p>
            <a:pPr>
              <a:lnSpc>
                <a:spcPct val="120000"/>
              </a:lnSpc>
            </a:pPr>
            <a:r>
              <a:rPr lang="en-US" sz="2900" dirty="0">
                <a:solidFill>
                  <a:schemeClr val="accent2">
                    <a:lumMod val="75000"/>
                  </a:schemeClr>
                </a:solidFill>
              </a:rPr>
              <a:t>Some titles with large spikes still maintain popularity, while others (like </a:t>
            </a:r>
            <a:r>
              <a:rPr lang="en-US" sz="2900" i="1" dirty="0">
                <a:solidFill>
                  <a:schemeClr val="accent2">
                    <a:lumMod val="75000"/>
                  </a:schemeClr>
                </a:solidFill>
              </a:rPr>
              <a:t>The Red Pencil</a:t>
            </a:r>
            <a:r>
              <a:rPr lang="en-US" sz="2900" dirty="0">
                <a:solidFill>
                  <a:schemeClr val="accent2">
                    <a:lumMod val="75000"/>
                  </a:schemeClr>
                </a:solidFill>
              </a:rPr>
              <a:t>, </a:t>
            </a:r>
            <a:r>
              <a:rPr lang="en-US" sz="2900" i="1" dirty="0">
                <a:solidFill>
                  <a:schemeClr val="accent2">
                    <a:lumMod val="75000"/>
                  </a:schemeClr>
                </a:solidFill>
              </a:rPr>
              <a:t>Mexikid</a:t>
            </a:r>
            <a:r>
              <a:rPr lang="en-US" sz="2900" dirty="0">
                <a:solidFill>
                  <a:schemeClr val="accent2">
                    <a:lumMod val="75000"/>
                  </a:schemeClr>
                </a:solidFill>
              </a:rPr>
              <a:t>, and </a:t>
            </a:r>
            <a:r>
              <a:rPr lang="en-US" sz="2900" i="1" dirty="0">
                <a:solidFill>
                  <a:schemeClr val="accent2">
                    <a:lumMod val="75000"/>
                  </a:schemeClr>
                </a:solidFill>
              </a:rPr>
              <a:t>Turtles All the Way Down</a:t>
            </a:r>
            <a:r>
              <a:rPr lang="en-US" sz="2900" dirty="0">
                <a:solidFill>
                  <a:schemeClr val="accent2">
                    <a:lumMod val="75000"/>
                  </a:schemeClr>
                </a:solidFill>
              </a:rPr>
              <a:t>) are checked out fewer than ten times in half of their available months.</a:t>
            </a:r>
          </a:p>
        </p:txBody>
      </p:sp>
      <p:sp>
        <p:nvSpPr>
          <p:cNvPr id="38" name="Rectangle 37">
            <a:extLst>
              <a:ext uri="{FF2B5EF4-FFF2-40B4-BE49-F238E27FC236}">
                <a16:creationId xmlns:a16="http://schemas.microsoft.com/office/drawing/2014/main" id="{6329CBCE-21AE-419D-AC1F-8ACF510A66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0" name="Rectangle 39">
            <a:extLst>
              <a:ext uri="{FF2B5EF4-FFF2-40B4-BE49-F238E27FC236}">
                <a16:creationId xmlns:a16="http://schemas.microsoft.com/office/drawing/2014/main" id="{FF2DA012-1414-493D-888F-5D99D0BDA3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167651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904184B-C2D6-6F0D-58CC-9DAF711F9E50}"/>
              </a:ext>
            </a:extLst>
          </p:cNvPr>
          <p:cNvSpPr>
            <a:spLocks noGrp="1"/>
          </p:cNvSpPr>
          <p:nvPr>
            <p:ph type="title"/>
          </p:nvPr>
        </p:nvSpPr>
        <p:spPr/>
        <p:txBody>
          <a:bodyPr/>
          <a:lstStyle/>
          <a:p>
            <a:r>
              <a:rPr lang="en-US" dirty="0"/>
              <a:t>Enduring Popularity</a:t>
            </a:r>
          </a:p>
        </p:txBody>
      </p:sp>
      <p:sp>
        <p:nvSpPr>
          <p:cNvPr id="5" name="Content Placeholder 4">
            <a:extLst>
              <a:ext uri="{FF2B5EF4-FFF2-40B4-BE49-F238E27FC236}">
                <a16:creationId xmlns:a16="http://schemas.microsoft.com/office/drawing/2014/main" id="{010EE8A7-84C2-2A43-F93C-1DEB84FBC298}"/>
              </a:ext>
            </a:extLst>
          </p:cNvPr>
          <p:cNvSpPr>
            <a:spLocks noGrp="1"/>
          </p:cNvSpPr>
          <p:nvPr>
            <p:ph sz="half" idx="1"/>
          </p:nvPr>
        </p:nvSpPr>
        <p:spPr/>
        <p:txBody>
          <a:bodyPr/>
          <a:lstStyle/>
          <a:p>
            <a:r>
              <a:rPr lang="en-US" dirty="0"/>
              <a:t>Books w/biggest spikes (or, low avg, big spikes?)</a:t>
            </a:r>
          </a:p>
        </p:txBody>
      </p:sp>
      <p:sp>
        <p:nvSpPr>
          <p:cNvPr id="6" name="Content Placeholder 5">
            <a:extLst>
              <a:ext uri="{FF2B5EF4-FFF2-40B4-BE49-F238E27FC236}">
                <a16:creationId xmlns:a16="http://schemas.microsoft.com/office/drawing/2014/main" id="{63BBE5C2-7C6E-7E65-F1E1-1ABD9BA32827}"/>
              </a:ext>
            </a:extLst>
          </p:cNvPr>
          <p:cNvSpPr>
            <a:spLocks noGrp="1"/>
          </p:cNvSpPr>
          <p:nvPr>
            <p:ph sz="half" idx="2"/>
          </p:nvPr>
        </p:nvSpPr>
        <p:spPr/>
        <p:txBody>
          <a:bodyPr/>
          <a:lstStyle/>
          <a:p>
            <a:r>
              <a:rPr lang="en-US" dirty="0"/>
              <a:t>Books consistently popular</a:t>
            </a:r>
          </a:p>
          <a:p>
            <a:r>
              <a:rPr lang="en-US" dirty="0"/>
              <a:t>Popular books with longest creation date</a:t>
            </a:r>
          </a:p>
          <a:p>
            <a:r>
              <a:rPr lang="en-US" dirty="0"/>
              <a:t>Which decades have the highest percentage of popular books?</a:t>
            </a:r>
          </a:p>
        </p:txBody>
      </p:sp>
    </p:spTree>
    <p:extLst>
      <p:ext uri="{BB962C8B-B14F-4D97-AF65-F5344CB8AC3E}">
        <p14:creationId xmlns:p14="http://schemas.microsoft.com/office/powerpoint/2010/main" val="28372002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A529C-42BD-E1CE-EF69-DCEF6D459743}"/>
              </a:ext>
            </a:extLst>
          </p:cNvPr>
          <p:cNvSpPr>
            <a:spLocks noGrp="1"/>
          </p:cNvSpPr>
          <p:nvPr>
            <p:ph type="title"/>
          </p:nvPr>
        </p:nvSpPr>
        <p:spPr/>
        <p:txBody>
          <a:bodyPr/>
          <a:lstStyle/>
          <a:p>
            <a:r>
              <a:rPr lang="en-US" dirty="0">
                <a:solidFill>
                  <a:schemeClr val="accent1"/>
                </a:solidFill>
              </a:rPr>
              <a:t>Challenge: </a:t>
            </a:r>
            <a:r>
              <a:rPr lang="en-US" dirty="0">
                <a:solidFill>
                  <a:schemeClr val="accent2">
                    <a:lumMod val="50000"/>
                  </a:schemeClr>
                </a:solidFill>
              </a:rPr>
              <a:t>What’s in a name?</a:t>
            </a:r>
          </a:p>
        </p:txBody>
      </p:sp>
      <p:sp>
        <p:nvSpPr>
          <p:cNvPr id="3" name="Content Placeholder 2">
            <a:extLst>
              <a:ext uri="{FF2B5EF4-FFF2-40B4-BE49-F238E27FC236}">
                <a16:creationId xmlns:a16="http://schemas.microsoft.com/office/drawing/2014/main" id="{2320A5DC-0D4A-C77D-783C-F83AF445BAC0}"/>
              </a:ext>
            </a:extLst>
          </p:cNvPr>
          <p:cNvSpPr>
            <a:spLocks noGrp="1"/>
          </p:cNvSpPr>
          <p:nvPr>
            <p:ph idx="1"/>
          </p:nvPr>
        </p:nvSpPr>
        <p:spPr>
          <a:xfrm>
            <a:off x="1137285" y="1737360"/>
            <a:ext cx="10058400" cy="4023360"/>
          </a:xfrm>
        </p:spPr>
        <p:txBody>
          <a:bodyPr>
            <a:normAutofit/>
          </a:bodyPr>
          <a:lstStyle/>
          <a:p>
            <a:pPr lvl="1">
              <a:buFont typeface="Arial" panose="020B0604020202020204" pitchFamily="34" charset="0"/>
              <a:buChar char="•"/>
            </a:pPr>
            <a:r>
              <a:rPr lang="en-US" sz="1400" dirty="0">
                <a:solidFill>
                  <a:schemeClr val="accent2">
                    <a:lumMod val="75000"/>
                  </a:schemeClr>
                </a:solidFill>
              </a:rPr>
              <a:t>One of the biggest challenges with this project was attempting to standardize what I meant when I talk about a specific “book”.  If we want to know how popular </a:t>
            </a:r>
            <a:r>
              <a:rPr lang="en-US" sz="1400" i="1" dirty="0">
                <a:solidFill>
                  <a:schemeClr val="accent2">
                    <a:lumMod val="75000"/>
                  </a:schemeClr>
                </a:solidFill>
              </a:rPr>
              <a:t>A Wrinkle in Time </a:t>
            </a:r>
            <a:r>
              <a:rPr lang="en-US" sz="1400" dirty="0">
                <a:solidFill>
                  <a:schemeClr val="accent2">
                    <a:lumMod val="75000"/>
                  </a:schemeClr>
                </a:solidFill>
              </a:rPr>
              <a:t>was in a particular month, we might not care whether it was checked out digitally or physically, whether it was an audiobook or print, or if it was a large-print edition.  But we probably </a:t>
            </a:r>
            <a:r>
              <a:rPr lang="en-US" sz="1400" i="1" dirty="0">
                <a:solidFill>
                  <a:schemeClr val="accent2">
                    <a:lumMod val="75000"/>
                  </a:schemeClr>
                </a:solidFill>
              </a:rPr>
              <a:t>would</a:t>
            </a:r>
            <a:r>
              <a:rPr lang="en-US" sz="1400" dirty="0">
                <a:solidFill>
                  <a:schemeClr val="accent2">
                    <a:lumMod val="75000"/>
                  </a:schemeClr>
                </a:solidFill>
              </a:rPr>
              <a:t> want to distinguish it from the graphic novel adaptation released in 2012.  </a:t>
            </a:r>
          </a:p>
          <a:p>
            <a:pPr lvl="1">
              <a:buFont typeface="Arial" panose="020B0604020202020204" pitchFamily="34" charset="0"/>
              <a:buChar char="•"/>
            </a:pPr>
            <a:r>
              <a:rPr lang="en-US" sz="1400" dirty="0">
                <a:solidFill>
                  <a:schemeClr val="accent2">
                    <a:lumMod val="75000"/>
                  </a:schemeClr>
                </a:solidFill>
              </a:rPr>
              <a:t>For maximum fidelity, I cleaned up titles and author names to identify unique works – in the case of </a:t>
            </a:r>
            <a:r>
              <a:rPr lang="en-US" sz="1400" i="1" dirty="0">
                <a:solidFill>
                  <a:schemeClr val="accent2">
                    <a:lumMod val="75000"/>
                  </a:schemeClr>
                </a:solidFill>
              </a:rPr>
              <a:t>A Wrinkle in Time</a:t>
            </a:r>
            <a:r>
              <a:rPr lang="en-US" sz="1400" dirty="0">
                <a:solidFill>
                  <a:schemeClr val="accent2">
                    <a:lumMod val="75000"/>
                  </a:schemeClr>
                </a:solidFill>
              </a:rPr>
              <a:t>, this brought the number of variations from 13 unique “books” down to just two (one of which is the graphic novel!)</a:t>
            </a:r>
          </a:p>
          <a:p>
            <a:pPr lvl="1">
              <a:buFont typeface="Arial" panose="020B0604020202020204" pitchFamily="34" charset="0"/>
              <a:buChar char="•"/>
            </a:pPr>
            <a:r>
              <a:rPr lang="en-US" sz="1400" dirty="0">
                <a:solidFill>
                  <a:schemeClr val="accent2">
                    <a:lumMod val="75000"/>
                  </a:schemeClr>
                </a:solidFill>
              </a:rPr>
              <a:t>Series where I noticed consistent patterns could be manually cleaned up, but there may remain titles for which different versions of the same book continued to be counted separately.</a:t>
            </a:r>
          </a:p>
          <a:p>
            <a:pPr lvl="1">
              <a:buFont typeface="Arial" panose="020B0604020202020204" pitchFamily="34" charset="0"/>
              <a:buChar char="•"/>
            </a:pPr>
            <a:endParaRPr lang="en-US" sz="1400" dirty="0">
              <a:solidFill>
                <a:schemeClr val="accent2">
                  <a:lumMod val="75000"/>
                </a:schemeClr>
              </a:solidFill>
            </a:endParaRPr>
          </a:p>
          <a:p>
            <a:r>
              <a:rPr lang="en-US" sz="1600" dirty="0">
                <a:solidFill>
                  <a:schemeClr val="accent2"/>
                </a:solidFill>
                <a:latin typeface="+mj-lt"/>
              </a:rPr>
              <a:t>WHAT ABOUT ISBN?</a:t>
            </a:r>
          </a:p>
          <a:p>
            <a:pPr marL="486918" lvl="1" indent="-285750">
              <a:buFont typeface="Arial" panose="020B0604020202020204" pitchFamily="34" charset="0"/>
              <a:buChar char="•"/>
            </a:pPr>
            <a:r>
              <a:rPr lang="en-US" sz="1400" dirty="0">
                <a:solidFill>
                  <a:schemeClr val="accent2">
                    <a:lumMod val="75000"/>
                  </a:schemeClr>
                </a:solidFill>
              </a:rPr>
              <a:t>International Standard Book Numbers (ISBNs) are exactly what they sound like, internationally standardized codes for identifying books.  Unfortunately, they are unique to different formats of books and not a solution to this situation.</a:t>
            </a:r>
          </a:p>
          <a:p>
            <a:pPr marL="486918" lvl="1" indent="-285750">
              <a:buFont typeface="Arial" panose="020B0604020202020204" pitchFamily="34" charset="0"/>
              <a:buChar char="•"/>
            </a:pPr>
            <a:r>
              <a:rPr lang="en-US" sz="1400" dirty="0">
                <a:solidFill>
                  <a:schemeClr val="accent2">
                    <a:lumMod val="75000"/>
                  </a:schemeClr>
                </a:solidFill>
              </a:rPr>
              <a:t>As the world becomes increasingly dependent on big data, it may be worthwhile for the library and publishing communities to consider adopting identifiers for overarching works as well as for each format.</a:t>
            </a:r>
          </a:p>
        </p:txBody>
      </p:sp>
    </p:spTree>
    <p:extLst>
      <p:ext uri="{BB962C8B-B14F-4D97-AF65-F5344CB8AC3E}">
        <p14:creationId xmlns:p14="http://schemas.microsoft.com/office/powerpoint/2010/main" val="2006992848"/>
      </p:ext>
    </p:extLst>
  </p:cSld>
  <p:clrMapOvr>
    <a:masterClrMapping/>
  </p:clrMapOvr>
</p:sld>
</file>

<file path=ppt/theme/theme1.xml><?xml version="1.0" encoding="utf-8"?>
<a:theme xmlns:a="http://schemas.openxmlformats.org/drawingml/2006/main" name="Retrospect">
  <a:themeElements>
    <a:clrScheme name="Custom 3">
      <a:dk1>
        <a:srgbClr val="000000"/>
      </a:dk1>
      <a:lt1>
        <a:sysClr val="window" lastClr="FFFFFF"/>
      </a:lt1>
      <a:dk2>
        <a:srgbClr val="5E5E5E"/>
      </a:dk2>
      <a:lt2>
        <a:srgbClr val="DDDDDD"/>
      </a:lt2>
      <a:accent1>
        <a:srgbClr val="DF5327"/>
      </a:accent1>
      <a:accent2>
        <a:srgbClr val="418AB3"/>
      </a:accent2>
      <a:accent3>
        <a:srgbClr val="F69200"/>
      </a:accent3>
      <a:accent4>
        <a:srgbClr val="838383"/>
      </a:accent4>
      <a:accent5>
        <a:srgbClr val="FEC306"/>
      </a:accent5>
      <a:accent6>
        <a:srgbClr val="A6B727"/>
      </a:accent6>
      <a:hlink>
        <a:srgbClr val="F59E00"/>
      </a:hlink>
      <a:folHlink>
        <a:srgbClr val="B2B2B2"/>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2257</TotalTime>
  <Words>1009</Words>
  <Application>Microsoft Office PowerPoint</Application>
  <PresentationFormat>Widescreen</PresentationFormat>
  <Paragraphs>57</Paragraphs>
  <Slides>8</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Aptos</vt:lpstr>
      <vt:lpstr>Arial</vt:lpstr>
      <vt:lpstr>Calibri</vt:lpstr>
      <vt:lpstr>Calibri Light</vt:lpstr>
      <vt:lpstr>Georgia</vt:lpstr>
      <vt:lpstr>Grandview</vt:lpstr>
      <vt:lpstr>Retrospect</vt:lpstr>
      <vt:lpstr>Trends in Children’s Literature  at the Seattle Public Library</vt:lpstr>
      <vt:lpstr>Introduction</vt:lpstr>
      <vt:lpstr>Data Acquisition &amp; Cleaning</vt:lpstr>
      <vt:lpstr>Most Popular Titles</vt:lpstr>
      <vt:lpstr>Different Demand Patterns</vt:lpstr>
      <vt:lpstr>Possible Fads</vt:lpstr>
      <vt:lpstr>Enduring Popularity</vt:lpstr>
      <vt:lpstr>Challenge: What’s in a name?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Raven Edgerton</dc:creator>
  <cp:lastModifiedBy>Raven Edgerton</cp:lastModifiedBy>
  <cp:revision>6</cp:revision>
  <dcterms:created xsi:type="dcterms:W3CDTF">2025-12-19T20:17:23Z</dcterms:created>
  <dcterms:modified xsi:type="dcterms:W3CDTF">2025-12-29T20:05:11Z</dcterms:modified>
</cp:coreProperties>
</file>