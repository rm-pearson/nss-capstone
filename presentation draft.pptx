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3" r:id="rId1"/>
  </p:sldMasterIdLst>
  <p:sldIdLst>
    <p:sldId id="256" r:id="rId2"/>
    <p:sldId id="257" r:id="rId3"/>
    <p:sldId id="259" r:id="rId4"/>
    <p:sldId id="260" r:id="rId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4660"/>
  </p:normalViewPr>
  <p:slideViewPr>
    <p:cSldViewPr snapToGrid="0">
      <p:cViewPr varScale="1">
        <p:scale>
          <a:sx n="100" d="100"/>
          <a:sy n="100" d="100"/>
        </p:scale>
        <p:origin x="84" y="17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341B595-366B-43E2-A22E-EA6A78C03F06}"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A915EE-10CB-4CF1-8569-6154455DA573}"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10920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341B595-366B-43E2-A22E-EA6A78C03F06}"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A915EE-10CB-4CF1-8569-6154455DA573}" type="slidenum">
              <a:rPr lang="en-US" smtClean="0"/>
              <a:t>‹#›</a:t>
            </a:fld>
            <a:endParaRPr lang="en-US"/>
          </a:p>
        </p:txBody>
      </p:sp>
    </p:spTree>
    <p:extLst>
      <p:ext uri="{BB962C8B-B14F-4D97-AF65-F5344CB8AC3E}">
        <p14:creationId xmlns:p14="http://schemas.microsoft.com/office/powerpoint/2010/main" val="28354330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341B595-366B-43E2-A22E-EA6A78C03F06}"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A915EE-10CB-4CF1-8569-6154455DA573}"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93877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341B595-366B-43E2-A22E-EA6A78C03F06}" type="datetimeFigureOut">
              <a:rPr lang="en-US" smtClean="0"/>
              <a:t>12/19/2025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BA915EE-10CB-4CF1-8569-6154455DA573}" type="slidenum">
              <a:rPr lang="en-US" smtClean="0"/>
              <a:t>‹#›</a:t>
            </a:fld>
            <a:endParaRPr lang="en-US"/>
          </a:p>
        </p:txBody>
      </p:sp>
    </p:spTree>
    <p:extLst>
      <p:ext uri="{BB962C8B-B14F-4D97-AF65-F5344CB8AC3E}">
        <p14:creationId xmlns:p14="http://schemas.microsoft.com/office/powerpoint/2010/main" val="4082778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341B595-366B-43E2-A22E-EA6A78C03F06}" type="datetimeFigureOut">
              <a:rPr lang="en-US" smtClean="0"/>
              <a:t>12/19/2025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BA915EE-10CB-4CF1-8569-6154455DA573}" type="slidenum">
              <a:rPr lang="en-US" smtClean="0"/>
              <a:t>‹#›</a:t>
            </a:fld>
            <a:endParaRPr lang="en-US"/>
          </a:p>
        </p:txBody>
      </p:sp>
    </p:spTree>
    <p:extLst>
      <p:ext uri="{BB962C8B-B14F-4D97-AF65-F5344CB8AC3E}">
        <p14:creationId xmlns:p14="http://schemas.microsoft.com/office/powerpoint/2010/main" val="21103843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341B595-366B-43E2-A22E-EA6A78C03F06}" type="datetimeFigureOut">
              <a:rPr lang="en-US" smtClean="0"/>
              <a:t>12/19/2025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BA915EE-10CB-4CF1-8569-6154455DA573}" type="slidenum">
              <a:rPr lang="en-US" smtClean="0"/>
              <a:t>‹#›</a:t>
            </a:fld>
            <a:endParaRPr lang="en-US"/>
          </a:p>
        </p:txBody>
      </p:sp>
    </p:spTree>
    <p:extLst>
      <p:ext uri="{BB962C8B-B14F-4D97-AF65-F5344CB8AC3E}">
        <p14:creationId xmlns:p14="http://schemas.microsoft.com/office/powerpoint/2010/main" val="10327259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D341B595-366B-43E2-A22E-EA6A78C03F06}" type="datetimeFigureOut">
              <a:rPr lang="en-US" smtClean="0"/>
              <a:t>12/19/2025</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4BA915EE-10CB-4CF1-8569-6154455DA573}" type="slidenum">
              <a:rPr lang="en-US" smtClean="0"/>
              <a:t>‹#›</a:t>
            </a:fld>
            <a:endParaRPr lang="en-US"/>
          </a:p>
        </p:txBody>
      </p:sp>
    </p:spTree>
    <p:extLst>
      <p:ext uri="{BB962C8B-B14F-4D97-AF65-F5344CB8AC3E}">
        <p14:creationId xmlns:p14="http://schemas.microsoft.com/office/powerpoint/2010/main" val="26425245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D341B595-366B-43E2-A22E-EA6A78C03F06}" type="datetimeFigureOut">
              <a:rPr lang="en-US" smtClean="0"/>
              <a:t>12/19/2025</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4BA915EE-10CB-4CF1-8569-6154455DA573}" type="slidenum">
              <a:rPr lang="en-US" smtClean="0"/>
              <a:t>‹#›</a:t>
            </a:fld>
            <a:endParaRPr lang="en-US"/>
          </a:p>
        </p:txBody>
      </p:sp>
    </p:spTree>
    <p:extLst>
      <p:ext uri="{BB962C8B-B14F-4D97-AF65-F5344CB8AC3E}">
        <p14:creationId xmlns:p14="http://schemas.microsoft.com/office/powerpoint/2010/main" val="40708411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341B595-366B-43E2-A22E-EA6A78C03F06}" type="datetimeFigureOut">
              <a:rPr lang="en-US" smtClean="0"/>
              <a:t>12/19/2025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BA915EE-10CB-4CF1-8569-6154455DA573}" type="slidenum">
              <a:rPr lang="en-US" smtClean="0"/>
              <a:t>‹#›</a:t>
            </a:fld>
            <a:endParaRPr lang="en-US"/>
          </a:p>
        </p:txBody>
      </p:sp>
    </p:spTree>
    <p:extLst>
      <p:ext uri="{BB962C8B-B14F-4D97-AF65-F5344CB8AC3E}">
        <p14:creationId xmlns:p14="http://schemas.microsoft.com/office/powerpoint/2010/main" val="850302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341B595-366B-43E2-A22E-EA6A78C03F06}"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A915EE-10CB-4CF1-8569-6154455DA573}" type="slidenum">
              <a:rPr lang="en-US" smtClean="0"/>
              <a:t>‹#›</a:t>
            </a:fld>
            <a:endParaRPr lang="en-US"/>
          </a:p>
        </p:txBody>
      </p:sp>
    </p:spTree>
    <p:extLst>
      <p:ext uri="{BB962C8B-B14F-4D97-AF65-F5344CB8AC3E}">
        <p14:creationId xmlns:p14="http://schemas.microsoft.com/office/powerpoint/2010/main" val="37565026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341B595-366B-43E2-A22E-EA6A78C03F06}"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A915EE-10CB-4CF1-8569-6154455DA573}" type="slidenum">
              <a:rPr lang="en-US" smtClean="0"/>
              <a:t>‹#›</a:t>
            </a:fld>
            <a:endParaRPr lang="en-US"/>
          </a:p>
        </p:txBody>
      </p:sp>
    </p:spTree>
    <p:extLst>
      <p:ext uri="{BB962C8B-B14F-4D97-AF65-F5344CB8AC3E}">
        <p14:creationId xmlns:p14="http://schemas.microsoft.com/office/powerpoint/2010/main" val="19906887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D341B595-366B-43E2-A22E-EA6A78C03F06}" type="datetimeFigureOut">
              <a:rPr lang="en-US" smtClean="0"/>
              <a:t>12/19/2025</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4BA915EE-10CB-4CF1-8569-6154455DA573}"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3315351"/>
      </p:ext>
    </p:extLst>
  </p:cSld>
  <p:clrMap bg1="lt1" tx1="dk1" bg2="lt2" tx2="dk2" accent1="accent1" accent2="accent2" accent3="accent3" accent4="accent4" accent5="accent5" accent6="accent6" hlink="hlink" folHlink="folHlink"/>
  <p:sldLayoutIdLst>
    <p:sldLayoutId id="2147483754" r:id="rId1"/>
    <p:sldLayoutId id="2147483755" r:id="rId2"/>
    <p:sldLayoutId id="2147483756" r:id="rId3"/>
    <p:sldLayoutId id="2147483757" r:id="rId4"/>
    <p:sldLayoutId id="2147483758" r:id="rId5"/>
    <p:sldLayoutId id="2147483759" r:id="rId6"/>
    <p:sldLayoutId id="2147483760" r:id="rId7"/>
    <p:sldLayoutId id="2147483761" r:id="rId8"/>
    <p:sldLayoutId id="2147483762" r:id="rId9"/>
    <p:sldLayoutId id="2147483763" r:id="rId10"/>
    <p:sldLayoutId id="2147483764"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6000"/>
                <a:shade val="99000"/>
                <a:satMod val="140000"/>
              </a:schemeClr>
            </a:gs>
            <a:gs pos="65000">
              <a:schemeClr val="bg1">
                <a:tint val="100000"/>
                <a:shade val="80000"/>
                <a:satMod val="130000"/>
              </a:schemeClr>
            </a:gs>
            <a:gs pos="100000">
              <a:schemeClr val="bg1">
                <a:tint val="100000"/>
                <a:shade val="48000"/>
                <a:satMod val="120000"/>
              </a:schemeClr>
            </a:gs>
          </a:gsLst>
          <a:lin ang="16200000" scaled="0"/>
        </a:gradFill>
        <a:effectLst/>
      </p:bgPr>
    </p:bg>
    <p:spTree>
      <p:nvGrpSpPr>
        <p:cNvPr id="1" name=""/>
        <p:cNvGrpSpPr/>
        <p:nvPr/>
      </p:nvGrpSpPr>
      <p:grpSpPr>
        <a:xfrm>
          <a:off x="0" y="0"/>
          <a:ext cx="0" cy="0"/>
          <a:chOff x="0" y="0"/>
          <a:chExt cx="0" cy="0"/>
        </a:xfrm>
      </p:grpSpPr>
      <p:pic>
        <p:nvPicPr>
          <p:cNvPr id="4" name="Picture 3" descr="Abstract blurred public library with bookshelves">
            <a:extLst>
              <a:ext uri="{FF2B5EF4-FFF2-40B4-BE49-F238E27FC236}">
                <a16:creationId xmlns:a16="http://schemas.microsoft.com/office/drawing/2014/main" id="{1960692F-B15A-04C6-70FD-35359B47E67D}"/>
              </a:ext>
            </a:extLst>
          </p:cNvPr>
          <p:cNvPicPr>
            <a:picLocks noChangeAspect="1"/>
          </p:cNvPicPr>
          <p:nvPr/>
        </p:nvPicPr>
        <p:blipFill>
          <a:blip r:embed="rId2">
            <a:alphaModFix amt="35000"/>
          </a:blip>
          <a:srcRect t="1059" b="14671"/>
          <a:stretch>
            <a:fillRect/>
          </a:stretch>
        </p:blipFill>
        <p:spPr>
          <a:xfrm>
            <a:off x="20" y="10"/>
            <a:ext cx="12191979" cy="6857990"/>
          </a:xfrm>
          <a:prstGeom prst="rect">
            <a:avLst/>
          </a:prstGeom>
        </p:spPr>
      </p:pic>
      <p:sp>
        <p:nvSpPr>
          <p:cNvPr id="2" name="Title 1">
            <a:extLst>
              <a:ext uri="{FF2B5EF4-FFF2-40B4-BE49-F238E27FC236}">
                <a16:creationId xmlns:a16="http://schemas.microsoft.com/office/drawing/2014/main" id="{9D11C39A-1835-1780-257F-EADBA956FE4B}"/>
              </a:ext>
            </a:extLst>
          </p:cNvPr>
          <p:cNvSpPr>
            <a:spLocks noGrp="1"/>
          </p:cNvSpPr>
          <p:nvPr>
            <p:ph type="ctrTitle"/>
          </p:nvPr>
        </p:nvSpPr>
        <p:spPr>
          <a:xfrm>
            <a:off x="1097280" y="758952"/>
            <a:ext cx="10058400" cy="3566160"/>
          </a:xfrm>
        </p:spPr>
        <p:txBody>
          <a:bodyPr>
            <a:normAutofit/>
          </a:bodyPr>
          <a:lstStyle/>
          <a:p>
            <a:r>
              <a:rPr lang="en-US" sz="5400" dirty="0">
                <a:solidFill>
                  <a:srgbClr val="FFFFFF"/>
                </a:solidFill>
                <a:latin typeface="Grandview" panose="020B0502040204020203" pitchFamily="34" charset="0"/>
              </a:rPr>
              <a:t>Trends in Children’s Literature </a:t>
            </a:r>
            <a:br>
              <a:rPr lang="en-US" sz="5400" dirty="0">
                <a:solidFill>
                  <a:srgbClr val="FFFFFF"/>
                </a:solidFill>
                <a:latin typeface="Grandview" panose="020B0502040204020203" pitchFamily="34" charset="0"/>
              </a:rPr>
            </a:br>
            <a:r>
              <a:rPr lang="en-US" sz="5400" dirty="0">
                <a:solidFill>
                  <a:srgbClr val="FFFFFF"/>
                </a:solidFill>
                <a:latin typeface="Grandview" panose="020B0502040204020203" pitchFamily="34" charset="0"/>
              </a:rPr>
              <a:t>at the Seattle Public Library</a:t>
            </a:r>
          </a:p>
        </p:txBody>
      </p:sp>
      <p:sp>
        <p:nvSpPr>
          <p:cNvPr id="3" name="Subtitle 2">
            <a:extLst>
              <a:ext uri="{FF2B5EF4-FFF2-40B4-BE49-F238E27FC236}">
                <a16:creationId xmlns:a16="http://schemas.microsoft.com/office/drawing/2014/main" id="{B9FF4B25-7F98-23C5-2136-A60E6A99285F}"/>
              </a:ext>
            </a:extLst>
          </p:cNvPr>
          <p:cNvSpPr>
            <a:spLocks noGrp="1"/>
          </p:cNvSpPr>
          <p:nvPr>
            <p:ph type="subTitle" idx="1"/>
          </p:nvPr>
        </p:nvSpPr>
        <p:spPr>
          <a:xfrm>
            <a:off x="1100051" y="4455620"/>
            <a:ext cx="10058400" cy="1143000"/>
          </a:xfrm>
        </p:spPr>
        <p:txBody>
          <a:bodyPr>
            <a:normAutofit fontScale="92500" lnSpcReduction="10000"/>
          </a:bodyPr>
          <a:lstStyle/>
          <a:p>
            <a:r>
              <a:rPr lang="en-US" sz="2000" dirty="0">
                <a:solidFill>
                  <a:srgbClr val="FFFFFF"/>
                </a:solidFill>
              </a:rPr>
              <a:t>R. M. Edgerton</a:t>
            </a:r>
            <a:endParaRPr lang="en-US" sz="1700" dirty="0">
              <a:solidFill>
                <a:srgbClr val="FFFFFF"/>
              </a:solidFill>
            </a:endParaRPr>
          </a:p>
          <a:p>
            <a:r>
              <a:rPr lang="en-US" sz="1700" dirty="0">
                <a:solidFill>
                  <a:schemeClr val="accent2">
                    <a:lumMod val="60000"/>
                    <a:lumOff val="40000"/>
                  </a:schemeClr>
                </a:solidFill>
              </a:rPr>
              <a:t>January 2026 Capstone presentation</a:t>
            </a:r>
          </a:p>
          <a:p>
            <a:r>
              <a:rPr lang="en-US" sz="1700" dirty="0">
                <a:solidFill>
                  <a:schemeClr val="accent2">
                    <a:lumMod val="60000"/>
                    <a:lumOff val="40000"/>
                  </a:schemeClr>
                </a:solidFill>
              </a:rPr>
              <a:t>Nashville Software School Full-Time Data Analytics Bootcamp</a:t>
            </a:r>
          </a:p>
        </p:txBody>
      </p:sp>
      <p:cxnSp>
        <p:nvCxnSpPr>
          <p:cNvPr id="9" name="Straight Connector 8">
            <a:extLst>
              <a:ext uri="{FF2B5EF4-FFF2-40B4-BE49-F238E27FC236}">
                <a16:creationId xmlns:a16="http://schemas.microsoft.com/office/drawing/2014/main" id="{4071767D-5FF7-4508-B8B7-BB60FF3AB2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alpha val="80000"/>
              </a:schemeClr>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C4E89C94-E462-4566-A15A-32835FD68B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Rectangle 12">
            <a:extLst>
              <a:ext uri="{FF2B5EF4-FFF2-40B4-BE49-F238E27FC236}">
                <a16:creationId xmlns:a16="http://schemas.microsoft.com/office/drawing/2014/main" id="{E25F4A20-71FB-4A26-92E2-89DED49264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27270299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741B58E-3B65-4A01-A276-975AB2CF8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6315" cy="6858000"/>
          </a:xfrm>
          <a:prstGeom prst="rect">
            <a:avLst/>
          </a:prstGeom>
          <a:ln>
            <a:noFill/>
          </a:ln>
        </p:spPr>
        <p:style>
          <a:lnRef idx="2">
            <a:schemeClr val="accent6">
              <a:shade val="50000"/>
            </a:schemeClr>
          </a:lnRef>
          <a:fillRef idx="1001">
            <a:schemeClr val="lt1"/>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AAC67C3-831B-4AB1-A259-DFB839CAFA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EF6422FD-8B76-8A2C-AE80-B6A689FCDE9C}"/>
              </a:ext>
            </a:extLst>
          </p:cNvPr>
          <p:cNvSpPr>
            <a:spLocks noGrp="1"/>
          </p:cNvSpPr>
          <p:nvPr>
            <p:ph type="title"/>
          </p:nvPr>
        </p:nvSpPr>
        <p:spPr>
          <a:xfrm>
            <a:off x="4742016" y="380708"/>
            <a:ext cx="6413662" cy="1025011"/>
          </a:xfrm>
        </p:spPr>
        <p:txBody>
          <a:bodyPr anchor="b">
            <a:normAutofit/>
          </a:bodyPr>
          <a:lstStyle/>
          <a:p>
            <a:r>
              <a:rPr lang="en-US" sz="3600" dirty="0">
                <a:solidFill>
                  <a:schemeClr val="accent2">
                    <a:lumMod val="50000"/>
                  </a:schemeClr>
                </a:solidFill>
                <a:latin typeface="Grandview" panose="020B0502040204020203" pitchFamily="34" charset="0"/>
              </a:rPr>
              <a:t>Introduction</a:t>
            </a:r>
          </a:p>
        </p:txBody>
      </p:sp>
      <p:sp>
        <p:nvSpPr>
          <p:cNvPr id="12" name="Rectangle 11">
            <a:extLst>
              <a:ext uri="{FF2B5EF4-FFF2-40B4-BE49-F238E27FC236}">
                <a16:creationId xmlns:a16="http://schemas.microsoft.com/office/drawing/2014/main" id="{054B3F04-9EAC-45C0-B3CE-0387EEA10A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5B2434EE-EA56-E4BE-25F9-D7E7B2AEC491}"/>
              </a:ext>
            </a:extLst>
          </p:cNvPr>
          <p:cNvSpPr>
            <a:spLocks noGrp="1"/>
          </p:cNvSpPr>
          <p:nvPr>
            <p:ph idx="1"/>
          </p:nvPr>
        </p:nvSpPr>
        <p:spPr>
          <a:xfrm>
            <a:off x="4742016" y="1786427"/>
            <a:ext cx="6413663" cy="4600725"/>
          </a:xfrm>
        </p:spPr>
        <p:txBody>
          <a:bodyPr anchor="t">
            <a:normAutofit lnSpcReduction="10000"/>
          </a:bodyPr>
          <a:lstStyle/>
          <a:p>
            <a:r>
              <a:rPr lang="en-US" dirty="0">
                <a:solidFill>
                  <a:schemeClr val="accent2">
                    <a:lumMod val="75000"/>
                  </a:schemeClr>
                </a:solidFill>
              </a:rPr>
              <a:t>I read a lot now, and I read a lot as a child – if I got in trouble in elementary school, it was usually for staying up past my bedtime trying to read, or paying more attention to a book hidden under my desk than whatever was going on in class.</a:t>
            </a:r>
          </a:p>
          <a:p>
            <a:r>
              <a:rPr lang="en-US" dirty="0">
                <a:solidFill>
                  <a:schemeClr val="accent2">
                    <a:lumMod val="75000"/>
                  </a:schemeClr>
                </a:solidFill>
              </a:rPr>
              <a:t>I also have a deep appreciation for public libraries, which have always gifted me with books I wouldn’t have thought to look for, and which make reading a much more accessible habit than if I had to buy everything I only read once!</a:t>
            </a:r>
          </a:p>
          <a:p>
            <a:r>
              <a:rPr lang="en-US" dirty="0">
                <a:solidFill>
                  <a:schemeClr val="accent2">
                    <a:lumMod val="75000"/>
                  </a:schemeClr>
                </a:solidFill>
              </a:rPr>
              <a:t>One day, when reminiscing with other bookish friends about our favorite childhood series, I grew curious about which series from my youth are still popular, and which series current children will be nostalgic about in 20 years.</a:t>
            </a:r>
          </a:p>
          <a:p>
            <a:r>
              <a:rPr lang="en-US" dirty="0">
                <a:solidFill>
                  <a:schemeClr val="accent2">
                    <a:lumMod val="75000"/>
                  </a:schemeClr>
                </a:solidFill>
              </a:rPr>
              <a:t>Using book checkout data from the Seattle Public Library, I analyzed popular titles, authors, and formats in children’s literature from 2006 through 2025.</a:t>
            </a:r>
          </a:p>
        </p:txBody>
      </p:sp>
      <p:sp>
        <p:nvSpPr>
          <p:cNvPr id="5" name="TextBox 4">
            <a:extLst>
              <a:ext uri="{FF2B5EF4-FFF2-40B4-BE49-F238E27FC236}">
                <a16:creationId xmlns:a16="http://schemas.microsoft.com/office/drawing/2014/main" id="{B36A7387-AF4E-DA25-57D2-925465FA3138}"/>
              </a:ext>
            </a:extLst>
          </p:cNvPr>
          <p:cNvSpPr txBox="1"/>
          <p:nvPr/>
        </p:nvSpPr>
        <p:spPr>
          <a:xfrm>
            <a:off x="566627" y="1920895"/>
            <a:ext cx="2906834" cy="3016210"/>
          </a:xfrm>
          <a:prstGeom prst="rect">
            <a:avLst/>
          </a:prstGeom>
          <a:noFill/>
        </p:spPr>
        <p:txBody>
          <a:bodyPr wrap="square" rtlCol="0">
            <a:spAutoFit/>
          </a:bodyPr>
          <a:lstStyle/>
          <a:p>
            <a:pPr algn="ctr"/>
            <a:r>
              <a:rPr lang="en-US" i="1" dirty="0">
                <a:solidFill>
                  <a:schemeClr val="bg1"/>
                </a:solidFill>
                <a:latin typeface="Georgia" panose="02040502050405020303" pitchFamily="18" charset="0"/>
              </a:rPr>
              <a:t>“There are those who say that life is like a book […] </a:t>
            </a:r>
          </a:p>
          <a:p>
            <a:pPr algn="ctr"/>
            <a:r>
              <a:rPr lang="en-US" i="1" dirty="0">
                <a:solidFill>
                  <a:schemeClr val="bg1"/>
                </a:solidFill>
                <a:latin typeface="Georgia" panose="02040502050405020303" pitchFamily="18" charset="0"/>
              </a:rPr>
              <a:t>I prefer to think that a book is like life, particularly a good one, which is well worth staying up all night to finish.”</a:t>
            </a:r>
          </a:p>
          <a:p>
            <a:endParaRPr lang="en-US" dirty="0"/>
          </a:p>
          <a:p>
            <a:pPr algn="ctr"/>
            <a:r>
              <a:rPr lang="en-US" sz="1200" dirty="0">
                <a:solidFill>
                  <a:schemeClr val="bg1"/>
                </a:solidFill>
                <a:latin typeface="Georgia" panose="02040502050405020303" pitchFamily="18" charset="0"/>
              </a:rPr>
              <a:t>LEMONY SNICKET </a:t>
            </a:r>
          </a:p>
          <a:p>
            <a:pPr algn="ctr"/>
            <a:r>
              <a:rPr lang="en-US" sz="1200" i="1" dirty="0">
                <a:solidFill>
                  <a:schemeClr val="bg1"/>
                </a:solidFill>
                <a:latin typeface="Georgia" panose="02040502050405020303" pitchFamily="18" charset="0"/>
              </a:rPr>
              <a:t>Horseradish</a:t>
            </a:r>
          </a:p>
        </p:txBody>
      </p:sp>
    </p:spTree>
    <p:extLst>
      <p:ext uri="{BB962C8B-B14F-4D97-AF65-F5344CB8AC3E}">
        <p14:creationId xmlns:p14="http://schemas.microsoft.com/office/powerpoint/2010/main" val="17233601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6308A-DB67-C513-D95D-A45E32B3B3E1}"/>
              </a:ext>
            </a:extLst>
          </p:cNvPr>
          <p:cNvSpPr>
            <a:spLocks noGrp="1"/>
          </p:cNvSpPr>
          <p:nvPr>
            <p:ph type="title"/>
          </p:nvPr>
        </p:nvSpPr>
        <p:spPr/>
        <p:txBody>
          <a:bodyPr/>
          <a:lstStyle/>
          <a:p>
            <a:r>
              <a:rPr lang="en-US" dirty="0">
                <a:solidFill>
                  <a:schemeClr val="accent2">
                    <a:lumMod val="50000"/>
                  </a:schemeClr>
                </a:solidFill>
              </a:rPr>
              <a:t>Data Acquisition &amp; Cleaning</a:t>
            </a:r>
          </a:p>
        </p:txBody>
      </p:sp>
      <p:sp>
        <p:nvSpPr>
          <p:cNvPr id="3" name="Content Placeholder 2">
            <a:extLst>
              <a:ext uri="{FF2B5EF4-FFF2-40B4-BE49-F238E27FC236}">
                <a16:creationId xmlns:a16="http://schemas.microsoft.com/office/drawing/2014/main" id="{17F826C9-0E3E-B621-9021-8606BD281ACA}"/>
              </a:ext>
            </a:extLst>
          </p:cNvPr>
          <p:cNvSpPr>
            <a:spLocks noGrp="1"/>
          </p:cNvSpPr>
          <p:nvPr>
            <p:ph idx="1"/>
          </p:nvPr>
        </p:nvSpPr>
        <p:spPr/>
        <p:txBody>
          <a:bodyPr/>
          <a:lstStyle/>
          <a:p>
            <a:pPr lvl="1">
              <a:buFont typeface="Arial" panose="020B0604020202020204" pitchFamily="34" charset="0"/>
              <a:buChar char="•"/>
            </a:pPr>
            <a:r>
              <a:rPr lang="en-US" dirty="0">
                <a:solidFill>
                  <a:schemeClr val="accent2">
                    <a:lumMod val="75000"/>
                  </a:schemeClr>
                </a:solidFill>
              </a:rPr>
              <a:t>The Seattle Public Library (SPL) makes monthly checkout data by title available through Seattle’s Open Data Portal at data.seattle.gov.</a:t>
            </a:r>
          </a:p>
          <a:p>
            <a:pPr lvl="1">
              <a:buFont typeface="Arial" panose="020B0604020202020204" pitchFamily="34" charset="0"/>
              <a:buChar char="•"/>
            </a:pPr>
            <a:r>
              <a:rPr lang="en-US" dirty="0">
                <a:solidFill>
                  <a:schemeClr val="accent2">
                    <a:lumMod val="75000"/>
                  </a:schemeClr>
                </a:solidFill>
              </a:rPr>
              <a:t>After downloading the full dataset, I filtered for children’s literature by searching for “juvenile fiction” and “juvenile nonfiction” among the subjects listed for each title.  </a:t>
            </a:r>
          </a:p>
          <a:p>
            <a:pPr lvl="1">
              <a:buFont typeface="Arial" panose="020B0604020202020204" pitchFamily="34" charset="0"/>
              <a:buChar char="•"/>
            </a:pPr>
            <a:r>
              <a:rPr lang="en-US" dirty="0">
                <a:solidFill>
                  <a:schemeClr val="accent2">
                    <a:lumMod val="75000"/>
                  </a:schemeClr>
                </a:solidFill>
              </a:rPr>
              <a:t>Like many libraries, SPL’s collection also includes music and videos – I also filtered my results to focus on books and audiobooks in both physical and digital formats.</a:t>
            </a:r>
          </a:p>
          <a:p>
            <a:pPr lvl="1">
              <a:buFont typeface="Arial" panose="020B0604020202020204" pitchFamily="34" charset="0"/>
              <a:buChar char="•"/>
            </a:pPr>
            <a:r>
              <a:rPr lang="en-US" dirty="0">
                <a:solidFill>
                  <a:schemeClr val="accent2">
                    <a:lumMod val="75000"/>
                  </a:schemeClr>
                </a:solidFill>
              </a:rPr>
              <a:t>This left me with 130,141 unique titles and their checkout data from April 2005 through November 2025.</a:t>
            </a:r>
          </a:p>
          <a:p>
            <a:pPr lvl="1">
              <a:buFont typeface="Arial" panose="020B0604020202020204" pitchFamily="34" charset="0"/>
              <a:buChar char="•"/>
            </a:pPr>
            <a:endParaRPr lang="en-US" dirty="0">
              <a:solidFill>
                <a:schemeClr val="accent2">
                  <a:lumMod val="75000"/>
                </a:schemeClr>
              </a:solidFill>
            </a:endParaRPr>
          </a:p>
          <a:p>
            <a:endParaRPr lang="en-US" dirty="0">
              <a:solidFill>
                <a:schemeClr val="accent2">
                  <a:lumMod val="75000"/>
                </a:schemeClr>
              </a:solidFill>
            </a:endParaRPr>
          </a:p>
        </p:txBody>
      </p:sp>
    </p:spTree>
    <p:extLst>
      <p:ext uri="{BB962C8B-B14F-4D97-AF65-F5344CB8AC3E}">
        <p14:creationId xmlns:p14="http://schemas.microsoft.com/office/powerpoint/2010/main" val="30258839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1A529C-42BD-E1CE-EF69-DCEF6D459743}"/>
              </a:ext>
            </a:extLst>
          </p:cNvPr>
          <p:cNvSpPr>
            <a:spLocks noGrp="1"/>
          </p:cNvSpPr>
          <p:nvPr>
            <p:ph type="title"/>
          </p:nvPr>
        </p:nvSpPr>
        <p:spPr/>
        <p:txBody>
          <a:bodyPr/>
          <a:lstStyle/>
          <a:p>
            <a:r>
              <a:rPr lang="en-US" dirty="0">
                <a:solidFill>
                  <a:schemeClr val="accent1"/>
                </a:solidFill>
              </a:rPr>
              <a:t>Challenge: </a:t>
            </a:r>
            <a:r>
              <a:rPr lang="en-US" dirty="0">
                <a:solidFill>
                  <a:schemeClr val="accent2">
                    <a:lumMod val="50000"/>
                  </a:schemeClr>
                </a:solidFill>
              </a:rPr>
              <a:t>When is a book not a book?</a:t>
            </a:r>
          </a:p>
        </p:txBody>
      </p:sp>
      <p:sp>
        <p:nvSpPr>
          <p:cNvPr id="3" name="Content Placeholder 2">
            <a:extLst>
              <a:ext uri="{FF2B5EF4-FFF2-40B4-BE49-F238E27FC236}">
                <a16:creationId xmlns:a16="http://schemas.microsoft.com/office/drawing/2014/main" id="{2320A5DC-0D4A-C77D-783C-F83AF445BAC0}"/>
              </a:ext>
            </a:extLst>
          </p:cNvPr>
          <p:cNvSpPr>
            <a:spLocks noGrp="1"/>
          </p:cNvSpPr>
          <p:nvPr>
            <p:ph idx="1"/>
          </p:nvPr>
        </p:nvSpPr>
        <p:spPr>
          <a:xfrm>
            <a:off x="1137285" y="1737360"/>
            <a:ext cx="10058400" cy="4023360"/>
          </a:xfrm>
        </p:spPr>
        <p:txBody>
          <a:bodyPr>
            <a:normAutofit/>
          </a:bodyPr>
          <a:lstStyle/>
          <a:p>
            <a:r>
              <a:rPr lang="en-US" sz="1600" dirty="0">
                <a:solidFill>
                  <a:schemeClr val="accent2"/>
                </a:solidFill>
                <a:latin typeface="+mj-lt"/>
              </a:rPr>
              <a:t>WHEN IT’S A … DIFFERENT BOOK?</a:t>
            </a:r>
            <a:endParaRPr lang="en-US" sz="1600" dirty="0">
              <a:solidFill>
                <a:schemeClr val="accent2"/>
              </a:solidFill>
            </a:endParaRPr>
          </a:p>
          <a:p>
            <a:pPr lvl="1">
              <a:buFont typeface="Arial" panose="020B0604020202020204" pitchFamily="34" charset="0"/>
              <a:buChar char="•"/>
            </a:pPr>
            <a:r>
              <a:rPr lang="en-US" sz="1400" dirty="0">
                <a:solidFill>
                  <a:schemeClr val="accent2">
                    <a:lumMod val="75000"/>
                  </a:schemeClr>
                </a:solidFill>
              </a:rPr>
              <a:t>One of the biggest challenges with this project was attempting to standardize what I meant when I talk about a “book”.  If we want to know how popular </a:t>
            </a:r>
            <a:r>
              <a:rPr lang="en-US" sz="1400" i="1" dirty="0">
                <a:solidFill>
                  <a:schemeClr val="accent2">
                    <a:lumMod val="75000"/>
                  </a:schemeClr>
                </a:solidFill>
              </a:rPr>
              <a:t>A Wrinkle in Time </a:t>
            </a:r>
            <a:r>
              <a:rPr lang="en-US" sz="1400" dirty="0">
                <a:solidFill>
                  <a:schemeClr val="accent2">
                    <a:lumMod val="75000"/>
                  </a:schemeClr>
                </a:solidFill>
              </a:rPr>
              <a:t>was in a particular month, we might not care whether it was checked out digitally or physically, whether it was an audiobook or print, or if it was a large-print edition.  But we probably </a:t>
            </a:r>
            <a:r>
              <a:rPr lang="en-US" sz="1400" i="1" dirty="0">
                <a:solidFill>
                  <a:schemeClr val="accent2">
                    <a:lumMod val="75000"/>
                  </a:schemeClr>
                </a:solidFill>
              </a:rPr>
              <a:t>would</a:t>
            </a:r>
            <a:r>
              <a:rPr lang="en-US" sz="1400" dirty="0">
                <a:solidFill>
                  <a:schemeClr val="accent2">
                    <a:lumMod val="75000"/>
                  </a:schemeClr>
                </a:solidFill>
              </a:rPr>
              <a:t> want to distinguish it from the graphic novel adaptation released in 2012.  </a:t>
            </a:r>
          </a:p>
          <a:p>
            <a:pPr lvl="1">
              <a:buFont typeface="Arial" panose="020B0604020202020204" pitchFamily="34" charset="0"/>
              <a:buChar char="•"/>
            </a:pPr>
            <a:r>
              <a:rPr lang="en-US" sz="1400" dirty="0">
                <a:solidFill>
                  <a:schemeClr val="accent2">
                    <a:lumMod val="75000"/>
                  </a:schemeClr>
                </a:solidFill>
              </a:rPr>
              <a:t>For maximum fidelity, I cleaned up titles and author names to identify unique works – in the case of </a:t>
            </a:r>
            <a:r>
              <a:rPr lang="en-US" sz="1400" i="1" dirty="0">
                <a:solidFill>
                  <a:schemeClr val="accent2">
                    <a:lumMod val="75000"/>
                  </a:schemeClr>
                </a:solidFill>
              </a:rPr>
              <a:t>A Wrinkle in Time</a:t>
            </a:r>
            <a:r>
              <a:rPr lang="en-US" sz="1400" dirty="0">
                <a:solidFill>
                  <a:schemeClr val="accent2">
                    <a:lumMod val="75000"/>
                  </a:schemeClr>
                </a:solidFill>
              </a:rPr>
              <a:t>, this brought the number of variations from 13 unique “books” to 6 (including the graphic novel!)</a:t>
            </a:r>
          </a:p>
          <a:p>
            <a:pPr lvl="1">
              <a:buFont typeface="Arial" panose="020B0604020202020204" pitchFamily="34" charset="0"/>
              <a:buChar char="•"/>
            </a:pPr>
            <a:r>
              <a:rPr lang="en-US" sz="1400" dirty="0">
                <a:solidFill>
                  <a:schemeClr val="accent2">
                    <a:lumMod val="75000"/>
                  </a:schemeClr>
                </a:solidFill>
              </a:rPr>
              <a:t>Titles could be consolidated further – identifying “A Wrinkle in Time: Time Quintet, Book 1” as the same book as “A Wrinkle in Time” and possibly folding in non-English language editions – but then ran the risk of merging together items like the graphic novel that should be kept separate.  For this reason, title consolidation was stopped at this point.  Unfortunately, that may mean there are times where different versions of the same book continue to be counted separately.</a:t>
            </a:r>
          </a:p>
          <a:p>
            <a:pPr lvl="1">
              <a:buFont typeface="Arial" panose="020B0604020202020204" pitchFamily="34" charset="0"/>
              <a:buChar char="•"/>
            </a:pPr>
            <a:endParaRPr lang="en-US" sz="1400" dirty="0">
              <a:solidFill>
                <a:schemeClr val="accent2">
                  <a:lumMod val="75000"/>
                </a:schemeClr>
              </a:solidFill>
            </a:endParaRPr>
          </a:p>
          <a:p>
            <a:r>
              <a:rPr lang="en-US" sz="1600" dirty="0">
                <a:solidFill>
                  <a:schemeClr val="accent2"/>
                </a:solidFill>
                <a:latin typeface="+mj-lt"/>
              </a:rPr>
              <a:t>WHAT ABOUT ISBN?</a:t>
            </a:r>
          </a:p>
          <a:p>
            <a:pPr marL="486918" lvl="1" indent="-285750">
              <a:buFont typeface="Arial" panose="020B0604020202020204" pitchFamily="34" charset="0"/>
              <a:buChar char="•"/>
            </a:pPr>
            <a:r>
              <a:rPr lang="en-US" sz="1400" dirty="0">
                <a:solidFill>
                  <a:schemeClr val="accent2">
                    <a:lumMod val="75000"/>
                  </a:schemeClr>
                </a:solidFill>
              </a:rPr>
              <a:t>International Standard Book Numbers (ISBNs) are exactly what they sound like, internationally standardized codes for identifying books.  Unfortunately, they are unique to different formats of books and not an answer to this particular problem.</a:t>
            </a:r>
          </a:p>
          <a:p>
            <a:pPr marL="486918" lvl="1" indent="-285750">
              <a:buFont typeface="Arial" panose="020B0604020202020204" pitchFamily="34" charset="0"/>
              <a:buChar char="•"/>
            </a:pPr>
            <a:r>
              <a:rPr lang="en-US" sz="1400" dirty="0">
                <a:solidFill>
                  <a:schemeClr val="accent2">
                    <a:lumMod val="75000"/>
                  </a:schemeClr>
                </a:solidFill>
              </a:rPr>
              <a:t>As the world becomes increasingly dependent on big data, it may be worthwhile for the library and publishing communities to consider adopting identifiers for overarching works </a:t>
            </a:r>
            <a:r>
              <a:rPr lang="en-US" sz="1400">
                <a:solidFill>
                  <a:schemeClr val="accent2">
                    <a:lumMod val="75000"/>
                  </a:schemeClr>
                </a:solidFill>
              </a:rPr>
              <a:t>as well.</a:t>
            </a:r>
            <a:endParaRPr lang="en-US" sz="1400" dirty="0">
              <a:solidFill>
                <a:schemeClr val="accent2">
                  <a:lumMod val="75000"/>
                </a:schemeClr>
              </a:solidFill>
            </a:endParaRPr>
          </a:p>
        </p:txBody>
      </p:sp>
    </p:spTree>
    <p:extLst>
      <p:ext uri="{BB962C8B-B14F-4D97-AF65-F5344CB8AC3E}">
        <p14:creationId xmlns:p14="http://schemas.microsoft.com/office/powerpoint/2010/main" val="2006992848"/>
      </p:ext>
    </p:extLst>
  </p:cSld>
  <p:clrMapOvr>
    <a:masterClrMapping/>
  </p:clrMapOvr>
</p:sld>
</file>

<file path=ppt/theme/theme1.xml><?xml version="1.0" encoding="utf-8"?>
<a:theme xmlns:a="http://schemas.openxmlformats.org/drawingml/2006/main" name="Retrospect">
  <a:themeElements>
    <a:clrScheme name="Custom 3">
      <a:dk1>
        <a:srgbClr val="000000"/>
      </a:dk1>
      <a:lt1>
        <a:sysClr val="window" lastClr="FFFFFF"/>
      </a:lt1>
      <a:dk2>
        <a:srgbClr val="5E5E5E"/>
      </a:dk2>
      <a:lt2>
        <a:srgbClr val="DDDDDD"/>
      </a:lt2>
      <a:accent1>
        <a:srgbClr val="DF5327"/>
      </a:accent1>
      <a:accent2>
        <a:srgbClr val="418AB3"/>
      </a:accent2>
      <a:accent3>
        <a:srgbClr val="F69200"/>
      </a:accent3>
      <a:accent4>
        <a:srgbClr val="838383"/>
      </a:accent4>
      <a:accent5>
        <a:srgbClr val="FEC306"/>
      </a:accent5>
      <a:accent6>
        <a:srgbClr val="A6B727"/>
      </a:accent6>
      <a:hlink>
        <a:srgbClr val="F59E00"/>
      </a:hlink>
      <a:folHlink>
        <a:srgbClr val="B2B2B2"/>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Retrospect</Template>
  <TotalTime>99</TotalTime>
  <Words>661</Words>
  <Application>Microsoft Office PowerPoint</Application>
  <PresentationFormat>Widescreen</PresentationFormat>
  <Paragraphs>28</Paragraphs>
  <Slides>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Arial</vt:lpstr>
      <vt:lpstr>Calibri</vt:lpstr>
      <vt:lpstr>Calibri Light</vt:lpstr>
      <vt:lpstr>Georgia</vt:lpstr>
      <vt:lpstr>Grandview</vt:lpstr>
      <vt:lpstr>Retrospect</vt:lpstr>
      <vt:lpstr>Trends in Children’s Literature  at the Seattle Public Library</vt:lpstr>
      <vt:lpstr>Introduction</vt:lpstr>
      <vt:lpstr>Data Acquisition &amp; Cleaning</vt:lpstr>
      <vt:lpstr>Challenge: When is a book not a book?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Raven Edgerton</dc:creator>
  <cp:lastModifiedBy>Raven Edgerton</cp:lastModifiedBy>
  <cp:revision>1</cp:revision>
  <dcterms:created xsi:type="dcterms:W3CDTF">2025-12-19T20:17:23Z</dcterms:created>
  <dcterms:modified xsi:type="dcterms:W3CDTF">2025-12-19T21:57:17Z</dcterms:modified>
</cp:coreProperties>
</file>